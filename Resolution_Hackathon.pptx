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30484c34da4eeb" /><Relationship Type="http://schemas.openxmlformats.org/officeDocument/2006/relationships/extended-properties" Target="/docProps/app.xml" Id="Re02393337d3c4be3" /><Relationship Type="http://schemas.openxmlformats.org/officeDocument/2006/relationships/officeDocument" Target="/ppt/presentation.xml" Id="R537ef7c2720d49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24bba1b3524c13"/>
  </p:sldMasterIdLst>
  <p:notesMasterIdLst>
    <p:notesMasterId xmlns:r="http://schemas.openxmlformats.org/officeDocument/2006/relationships" r:id="Re157c466df244a31"/>
  </p:notesMasterIdLst>
  <p:sldIdLst>
    <p:sldId xmlns:r="http://schemas.openxmlformats.org/officeDocument/2006/relationships" id="256" r:id="R0d5958396ae24272"/>
    <p:sldId xmlns:r="http://schemas.openxmlformats.org/officeDocument/2006/relationships" id="257" r:id="R140356d4d4284461"/>
    <p:sldId xmlns:r="http://schemas.openxmlformats.org/officeDocument/2006/relationships" id="258" r:id="Rcdc0aa8bd8bc4ec1"/>
    <p:sldId xmlns:r="http://schemas.openxmlformats.org/officeDocument/2006/relationships" id="259" r:id="Rb35f24d7f9b04160"/>
    <p:sldId xmlns:r="http://schemas.openxmlformats.org/officeDocument/2006/relationships" id="260" r:id="R37e2595a51654b90"/>
    <p:sldId xmlns:r="http://schemas.openxmlformats.org/officeDocument/2006/relationships" id="261" r:id="R874f965ebfac4822"/>
    <p:sldId xmlns:r="http://schemas.openxmlformats.org/officeDocument/2006/relationships" id="262" r:id="R6fbb3def15ea4d72"/>
    <p:sldId xmlns:r="http://schemas.openxmlformats.org/officeDocument/2006/relationships" id="263" r:id="R561d06041e194748"/>
    <p:sldId xmlns:r="http://schemas.openxmlformats.org/officeDocument/2006/relationships" id="264" r:id="R82546dd0d6d94373"/>
    <p:sldId xmlns:r="http://schemas.openxmlformats.org/officeDocument/2006/relationships" id="265" r:id="R23953812755b4af2"/>
    <p:sldId xmlns:r="http://schemas.openxmlformats.org/officeDocument/2006/relationships" id="266" r:id="R7af1aa666ebb494c"/>
    <p:sldId xmlns:r="http://schemas.openxmlformats.org/officeDocument/2006/relationships" id="267" r:id="R366f1caa25a24a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ede1b3e31a42e8" /><Relationship Type="http://schemas.openxmlformats.org/officeDocument/2006/relationships/slideMaster" Target="/ppt/slideMasters/slideMaster1.xml" Id="Rb324bba1b3524c13" /><Relationship Type="http://schemas.openxmlformats.org/officeDocument/2006/relationships/notesMaster" Target="/ppt/notesMasters/notesMaster1.xml" Id="Re157c466df244a31" /><Relationship Type="http://schemas.openxmlformats.org/officeDocument/2006/relationships/presProps" Target="/ppt/presProps.xml" Id="Rfc66ee65d777431c" /><Relationship Type="http://schemas.openxmlformats.org/officeDocument/2006/relationships/tableStyles" Target="/ppt/tableStyles.xml" Id="R837fc3b8e8e0403b" /><Relationship Type="http://schemas.openxmlformats.org/officeDocument/2006/relationships/slide" Target="/ppt/slides/slide1.xml" Id="R0d5958396ae24272" /><Relationship Type="http://schemas.openxmlformats.org/officeDocument/2006/relationships/slide" Target="/ppt/slides/slide2.xml" Id="R140356d4d4284461" /><Relationship Type="http://schemas.openxmlformats.org/officeDocument/2006/relationships/slide" Target="/ppt/slides/slide3.xml" Id="Rcdc0aa8bd8bc4ec1" /><Relationship Type="http://schemas.openxmlformats.org/officeDocument/2006/relationships/slide" Target="/ppt/slides/slide4.xml" Id="Rb35f24d7f9b04160" /><Relationship Type="http://schemas.openxmlformats.org/officeDocument/2006/relationships/slide" Target="/ppt/slides/slide5.xml" Id="R37e2595a51654b90" /><Relationship Type="http://schemas.openxmlformats.org/officeDocument/2006/relationships/slide" Target="/ppt/slides/slide6.xml" Id="R874f965ebfac4822" /><Relationship Type="http://schemas.openxmlformats.org/officeDocument/2006/relationships/slide" Target="/ppt/slides/slide7.xml" Id="R6fbb3def15ea4d72" /><Relationship Type="http://schemas.openxmlformats.org/officeDocument/2006/relationships/slide" Target="/ppt/slides/slide8.xml" Id="R561d06041e194748" /><Relationship Type="http://schemas.openxmlformats.org/officeDocument/2006/relationships/slide" Target="/ppt/slides/slide9.xml" Id="R82546dd0d6d94373" /><Relationship Type="http://schemas.openxmlformats.org/officeDocument/2006/relationships/slide" Target="/ppt/slides/slide10.xml" Id="R23953812755b4af2" /><Relationship Type="http://schemas.openxmlformats.org/officeDocument/2006/relationships/slide" Target="/ppt/slides/slide11.xml" Id="R7af1aa666ebb494c" /><Relationship Type="http://schemas.openxmlformats.org/officeDocument/2006/relationships/slide" Target="/ppt/slides/slide12.xml" Id="R366f1caa25a24a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582d2986b540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f15335ae104498" /><Relationship Type="http://schemas.openxmlformats.org/officeDocument/2006/relationships/notesMaster" Target="/ppt/notesMasters/notesMaster1.xml" Id="R89d867892fdd4f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eed173ce464f43" /><Relationship Type="http://schemas.openxmlformats.org/officeDocument/2006/relationships/notesMaster" Target="/ppt/notesMasters/notesMaster1.xml" Id="R57fb386cc2fb4c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704d6be3584395" /><Relationship Type="http://schemas.openxmlformats.org/officeDocument/2006/relationships/notesMaster" Target="/ppt/notesMasters/notesMaster1.xml" Id="Rf04fc9b2c31b47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13577e65594197" /><Relationship Type="http://schemas.openxmlformats.org/officeDocument/2006/relationships/notesMaster" Target="/ppt/notesMasters/notesMaster1.xml" Id="R8470c8a15f8d42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9eb8aee9854b8a" /><Relationship Type="http://schemas.openxmlformats.org/officeDocument/2006/relationships/notesMaster" Target="/ppt/notesMasters/notesMaster1.xml" Id="R94126a6826d745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de101340d2498b" /><Relationship Type="http://schemas.openxmlformats.org/officeDocument/2006/relationships/notesMaster" Target="/ppt/notesMasters/notesMaster1.xml" Id="R05e7c47a158f43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696f9ee531496b" /><Relationship Type="http://schemas.openxmlformats.org/officeDocument/2006/relationships/notesMaster" Target="/ppt/notesMasters/notesMaster1.xml" Id="Re60552867c3c45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30f63c9969484a" /><Relationship Type="http://schemas.openxmlformats.org/officeDocument/2006/relationships/notesMaster" Target="/ppt/notesMasters/notesMaster1.xml" Id="Rdbf13dfb3d854b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f2107aabfe4ea2" /><Relationship Type="http://schemas.openxmlformats.org/officeDocument/2006/relationships/notesMaster" Target="/ppt/notesMasters/notesMaster1.xml" Id="Rd670e9f95cef43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413042d00c4c07" /><Relationship Type="http://schemas.openxmlformats.org/officeDocument/2006/relationships/notesMaster" Target="/ppt/notesMasters/notesMaster1.xml" Id="Re23560bf3f0a4f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9c454129ae4fd8" /><Relationship Type="http://schemas.openxmlformats.org/officeDocument/2006/relationships/notesMaster" Target="/ppt/notesMasters/notesMaster1.xml" Id="R53cc6e7766e24a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ab8bd82cdd44f3" /><Relationship Type="http://schemas.openxmlformats.org/officeDocument/2006/relationships/notesMaster" Target="/ppt/notesMasters/notesMaster1.xml" Id="Rbc3c18c9c44844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Resolution_Hackathon_Assignment.pdf, supplied assignment and completed solutions.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Resolution_Hackathon_Assignment.pdf, supplied assignment and completed solutions.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Resolution_Hackathon_Assignment.pdf, supplied assignment and completed solutions.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Resolution_Hackathon_Assignment.pdf, supplied assignment and completed solutions.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Resolution_Hackathon_Assignment.pdf, supplied assignment and completed solutions.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Resolution_Hackathon_Assignment.pdf, supplied assignment and completed solutions.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Resolution_Hackathon_Assignment.pdf, supplied assignment and completed solutions.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Resolution_Hackathon_Assignment.pdf, supplied assignment and completed solutions.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Resolution_Hackathon_Assignment.pdf, supplied assignment and completed solutions. Omar’s dialogue is an accusation, not an additional factual premise.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Resolution_Hackathon_Assignment.pdf, supplied assignment and completed solutions.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Resolution_Hackathon_Assignment.pdf, supplied assignment and completed solutions.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Resolution_Hackathon_Assignment.pdf, supplied assignment and completed solutions.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28ffd5d9c7451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2b1e9489c946e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b1a65482d47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4db89270404c7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23b70a8f9640c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e754bd65bd40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BF310A-B82C-4269-8DE6-1C65168035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A3C529F-E0D3-4A43-9F7F-8FA81FA482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DA1188C-1123-4C19-BC01-EA40D59EAC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A582CA-AD49-4331-B947-9F86A513EE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69BDABA-2985-451E-B98E-06F32745EA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1371D82-7666-4E08-BCD1-A9A109C7F5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F5B5AC-FB1F-4731-BC5E-6A51C64AC5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B609D3E-2F82-44CC-8196-DCA1610819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416409-4D45-4A45-93B0-0CBB66E6A4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2956FD-858E-49E5-9436-F423FFC061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45dc9b4a204b44" /><Relationship Type="http://schemas.openxmlformats.org/officeDocument/2006/relationships/slideLayout" Target="/ppt/slideLayouts/slideLayout1.xml" Id="R9693eae554584500" /><Relationship Type="http://schemas.openxmlformats.org/officeDocument/2006/relationships/slideLayout" Target="/ppt/slideLayouts/slideLayout2.xml" Id="Rdf60f58d906d48c4" /><Relationship Type="http://schemas.openxmlformats.org/officeDocument/2006/relationships/slideLayout" Target="/ppt/slideLayouts/slideLayout3.xml" Id="R0f90005a2dcc4478" /><Relationship Type="http://schemas.openxmlformats.org/officeDocument/2006/relationships/slideLayout" Target="/ppt/slideLayouts/slideLayout4.xml" Id="R44545df6f43e4d66" /><Relationship Type="http://schemas.openxmlformats.org/officeDocument/2006/relationships/slideLayout" Target="/ppt/slideLayouts/slideLayout5.xml" Id="R732c5c9da1324369" /><Relationship Type="http://schemas.openxmlformats.org/officeDocument/2006/relationships/slideLayout" Target="/ppt/slideLayouts/slideLayout6.xml" Id="R89d1468b622747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93eae554584500"/>
    <p:sldLayoutId xmlns:r="http://schemas.openxmlformats.org/officeDocument/2006/relationships" id="2147483650" r:id="Rdf60f58d906d48c4"/>
    <p:sldLayoutId xmlns:r="http://schemas.openxmlformats.org/officeDocument/2006/relationships" id="2147483651" r:id="R0f90005a2dcc4478"/>
    <p:sldLayoutId xmlns:r="http://schemas.openxmlformats.org/officeDocument/2006/relationships" id="2147483652" r:id="R44545df6f43e4d66"/>
    <p:sldLayoutId xmlns:r="http://schemas.openxmlformats.org/officeDocument/2006/relationships" id="2147483653" r:id="R732c5c9da1324369"/>
    <p:sldLayoutId xmlns:r="http://schemas.openxmlformats.org/officeDocument/2006/relationships" id="2147483654" r:id="R89d1468b622747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d551c20811433a" /><Relationship Type="http://schemas.openxmlformats.org/officeDocument/2006/relationships/notesSlide" Target="/ppt/notesSlides/notesSlide1.xml" Id="Rcef14811a11a4b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4937b56c1e42c3" /><Relationship Type="http://schemas.openxmlformats.org/officeDocument/2006/relationships/notesSlide" Target="/ppt/notesSlides/notesSlide2.xml" Id="R2bd15cc7636e45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10caa8a4db4b37" /><Relationship Type="http://schemas.openxmlformats.org/officeDocument/2006/relationships/notesSlide" Target="/ppt/notesSlides/notesSlide3.xml" Id="Rd82a2f86f2194c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07d3622a264ff7" /><Relationship Type="http://schemas.openxmlformats.org/officeDocument/2006/relationships/notesSlide" Target="/ppt/notesSlides/notesSlide4.xml" Id="R2cb870e8985448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c6827f5f974928" /><Relationship Type="http://schemas.openxmlformats.org/officeDocument/2006/relationships/notesSlide" Target="/ppt/notesSlides/notesSlide5.xml" Id="Rb06ea9e8f29a4b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5ec0ebe3fc4372" /><Relationship Type="http://schemas.openxmlformats.org/officeDocument/2006/relationships/notesSlide" Target="/ppt/notesSlides/notesSlide6.xml" Id="R9f4f551f59e746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5fca83a0b84d8c" /><Relationship Type="http://schemas.openxmlformats.org/officeDocument/2006/relationships/notesSlide" Target="/ppt/notesSlides/notesSlide7.xml" Id="R4a403acf036947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9aafa4ff6f44c0" /><Relationship Type="http://schemas.openxmlformats.org/officeDocument/2006/relationships/notesSlide" Target="/ppt/notesSlides/notesSlide8.xml" Id="R05aa40e7176b4e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9167df88f24d8f" /><Relationship Type="http://schemas.openxmlformats.org/officeDocument/2006/relationships/notesSlide" Target="/ppt/notesSlides/notesSlide9.xml" Id="Rde1e5afa461144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2d2a3eba9542db" /><Relationship Type="http://schemas.openxmlformats.org/officeDocument/2006/relationships/notesSlide" Target="/ppt/notesSlides/notesSlide10.xml" Id="Rf5d8f8a2684b49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19d477302641e3" /><Relationship Type="http://schemas.openxmlformats.org/officeDocument/2006/relationships/notesSlide" Target="/ppt/notesSlides/notesSlide11.xml" Id="R8b44fabf260c46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5db47c176e407f" /><Relationship Type="http://schemas.openxmlformats.org/officeDocument/2006/relationships/notesSlide" Target="/ppt/notesSlides/notesSlide12.xml" Id="R5b4374f130f443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765B0D-1901-4E69-98E7-F0027778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F97"/>
                </a:solidFill>
              </a:defRPr>
            </a:defPPr>
            <a:lvl1pPr>
              <a:defRPr sz="1275" b="1">
                <a:solidFill>
                  <a:srgbClr val="007F97"/>
                </a:solidFill>
              </a:defRPr>
            </a:lvl1pPr>
            <a:lvl2pPr>
              <a:defRPr sz="1275" b="1">
                <a:solidFill>
                  <a:srgbClr val="007F97"/>
                </a:solidFill>
              </a:defRPr>
            </a:lvl2pPr>
            <a:lvl3pPr>
              <a:defRPr sz="1275" b="1">
                <a:solidFill>
                  <a:srgbClr val="007F97"/>
                </a:solidFill>
              </a:defRPr>
            </a:lvl3pPr>
            <a:lvl4pPr>
              <a:defRPr sz="1275" b="1">
                <a:solidFill>
                  <a:srgbClr val="007F97"/>
                </a:solidFill>
              </a:defRPr>
            </a:lvl4pPr>
            <a:lvl5pPr>
              <a:defRPr sz="1275" b="1">
                <a:solidFill>
                  <a:srgbClr val="007F97"/>
                </a:solidFill>
              </a:defRPr>
            </a:lvl5pPr>
            <a:lvl6pPr>
              <a:defRPr sz="1275" b="1">
                <a:solidFill>
                  <a:srgbClr val="007F97"/>
                </a:solidFill>
              </a:defRPr>
            </a:lvl6pPr>
            <a:lvl7pPr>
              <a:defRPr sz="1275" b="1">
                <a:solidFill>
                  <a:srgbClr val="007F97"/>
                </a:solidFill>
              </a:defRPr>
            </a:lvl7pPr>
            <a:lvl8pPr>
              <a:defRPr sz="1275" b="1">
                <a:solidFill>
                  <a:srgbClr val="007F97"/>
                </a:solidFill>
              </a:defRPr>
            </a:lvl8pPr>
            <a:lvl9pPr>
              <a:defRPr sz="1275" b="1">
                <a:solidFill>
                  <a:srgbClr val="007F97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F97"/>
                </a:solidFill>
              </a:defRPr>
            </a:pPr>
            <a:r>
              <a:rPr sz="1275" b="1">
                <a:solidFill>
                  <a:srgbClr val="007F97"/>
                </a:solidFill>
              </a:rPr>
              <a:t>CS3081  •  ARTIFICIAL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640F3-CD87-45CC-8A87-81B24806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7"/>
                </a:solidFill>
              </a:defRPr>
            </a:defPPr>
            <a:lvl1pPr>
              <a:defRPr sz="1200" b="0">
                <a:solidFill>
                  <a:srgbClr val="526277"/>
                </a:solidFill>
              </a:defRPr>
            </a:lvl1pPr>
            <a:lvl2pPr>
              <a:defRPr sz="1200" b="0">
                <a:solidFill>
                  <a:srgbClr val="526277"/>
                </a:solidFill>
              </a:defRPr>
            </a:lvl2pPr>
            <a:lvl3pPr>
              <a:defRPr sz="1200" b="0">
                <a:solidFill>
                  <a:srgbClr val="526277"/>
                </a:solidFill>
              </a:defRPr>
            </a:lvl3pPr>
            <a:lvl4pPr>
              <a:defRPr sz="1200" b="0">
                <a:solidFill>
                  <a:srgbClr val="526277"/>
                </a:solidFill>
              </a:defRPr>
            </a:lvl4pPr>
            <a:lvl5pPr>
              <a:defRPr sz="1200" b="0">
                <a:solidFill>
                  <a:srgbClr val="526277"/>
                </a:solidFill>
              </a:defRPr>
            </a:lvl5pPr>
            <a:lvl6pPr>
              <a:defRPr sz="1200" b="0">
                <a:solidFill>
                  <a:srgbClr val="526277"/>
                </a:solidFill>
              </a:defRPr>
            </a:lvl6pPr>
            <a:lvl7pPr>
              <a:defRPr sz="1200" b="0">
                <a:solidFill>
                  <a:srgbClr val="526277"/>
                </a:solidFill>
              </a:defRPr>
            </a:lvl7pPr>
            <a:lvl8pPr>
              <a:defRPr sz="1200" b="0">
                <a:solidFill>
                  <a:srgbClr val="526277"/>
                </a:solidFill>
              </a:defRPr>
            </a:lvl8pPr>
            <a:lvl9pPr>
              <a:defRPr sz="1200" b="0">
                <a:solidFill>
                  <a:srgbClr val="52627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277"/>
                </a:solidFill>
              </a:defRPr>
            </a:pPr>
            <a:r>
              <a:rPr sz="1200" b="0">
                <a:solidFill>
                  <a:srgbClr val="526277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0CFFB-6F35-4247-B59E-20B13558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Resolution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0FB42-76AA-4922-BC7B-FF4796DE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858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FFFFFF"/>
                </a:solidFill>
              </a:defRPr>
            </a:defPPr>
            <a:lvl1pPr>
              <a:defRPr sz="4350" b="1">
                <a:solidFill>
                  <a:srgbClr val="FFFFFF"/>
                </a:solidFill>
              </a:defRPr>
            </a:lvl1pPr>
            <a:lvl2pPr>
              <a:defRPr sz="4350" b="1">
                <a:solidFill>
                  <a:srgbClr val="FFFFFF"/>
                </a:solidFill>
              </a:defRPr>
            </a:lvl2pPr>
            <a:lvl3pPr>
              <a:defRPr sz="4350" b="1">
                <a:solidFill>
                  <a:srgbClr val="FFFFFF"/>
                </a:solidFill>
              </a:defRPr>
            </a:lvl3pPr>
            <a:lvl4pPr>
              <a:defRPr sz="4350" b="1">
                <a:solidFill>
                  <a:srgbClr val="FFFFFF"/>
                </a:solidFill>
              </a:defRPr>
            </a:lvl4pPr>
            <a:lvl5pPr>
              <a:defRPr sz="4350" b="1">
                <a:solidFill>
                  <a:srgbClr val="FFFFFF"/>
                </a:solidFill>
              </a:defRPr>
            </a:lvl5pPr>
            <a:lvl6pPr>
              <a:defRPr sz="4350" b="1">
                <a:solidFill>
                  <a:srgbClr val="FFFFFF"/>
                </a:solidFill>
              </a:defRPr>
            </a:lvl6pPr>
            <a:lvl7pPr>
              <a:defRPr sz="4350" b="1">
                <a:solidFill>
                  <a:srgbClr val="FFFFFF"/>
                </a:solidFill>
              </a:defRPr>
            </a:lvl7pPr>
            <a:lvl8pPr>
              <a:defRPr sz="4350" b="1">
                <a:solidFill>
                  <a:srgbClr val="FFFFFF"/>
                </a:solidFill>
              </a:defRPr>
            </a:lvl8pPr>
            <a:lvl9pPr>
              <a:defRPr sz="4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The Case of the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Missing Exam Paper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099AF-AEB2-4627-8E44-EC607021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76675"/>
            <a:ext cx="714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6DE1EF"/>
                </a:solidFill>
              </a:defRPr>
            </a:defPPr>
            <a:lvl1pPr>
              <a:defRPr sz="2025" b="0">
                <a:solidFill>
                  <a:srgbClr val="6DE1EF"/>
                </a:solidFill>
              </a:defRPr>
            </a:lvl1pPr>
            <a:lvl2pPr>
              <a:defRPr sz="2025" b="0">
                <a:solidFill>
                  <a:srgbClr val="6DE1EF"/>
                </a:solidFill>
              </a:defRPr>
            </a:lvl2pPr>
            <a:lvl3pPr>
              <a:defRPr sz="2025" b="0">
                <a:solidFill>
                  <a:srgbClr val="6DE1EF"/>
                </a:solidFill>
              </a:defRPr>
            </a:lvl3pPr>
            <a:lvl4pPr>
              <a:defRPr sz="2025" b="0">
                <a:solidFill>
                  <a:srgbClr val="6DE1EF"/>
                </a:solidFill>
              </a:defRPr>
            </a:lvl4pPr>
            <a:lvl5pPr>
              <a:defRPr sz="2025" b="0">
                <a:solidFill>
                  <a:srgbClr val="6DE1EF"/>
                </a:solidFill>
              </a:defRPr>
            </a:lvl5pPr>
            <a:lvl6pPr>
              <a:defRPr sz="2025" b="0">
                <a:solidFill>
                  <a:srgbClr val="6DE1EF"/>
                </a:solidFill>
              </a:defRPr>
            </a:lvl6pPr>
            <a:lvl7pPr>
              <a:defRPr sz="2025" b="0">
                <a:solidFill>
                  <a:srgbClr val="6DE1EF"/>
                </a:solidFill>
              </a:defRPr>
            </a:lvl7pPr>
            <a:lvl8pPr>
              <a:defRPr sz="2025" b="0">
                <a:solidFill>
                  <a:srgbClr val="6DE1EF"/>
                </a:solidFill>
              </a:defRPr>
            </a:lvl8pPr>
            <a:lvl9pPr>
              <a:defRPr sz="2025" b="0">
                <a:solidFill>
                  <a:srgbClr val="6DE1EF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DE1EF"/>
                </a:solidFill>
              </a:defRPr>
            </a:pPr>
            <a:r>
              <a:rPr sz="2025" b="0">
                <a:solidFill>
                  <a:srgbClr val="6DE1EF"/>
                </a:solidFill>
              </a:rPr>
              <a:t>Dana Eshmawi</a:t>
            </a:r>
          </a:p>
          <a:p xmlns:a="http://schemas.openxmlformats.org/drawingml/2006/main">
            <a:pPr>
              <a:defRPr sz="2025" b="0">
                <a:solidFill>
                  <a:srgbClr val="6DE1EF"/>
                </a:solidFill>
              </a:defRPr>
            </a:pPr>
            <a:r>
              <a:rPr sz="2025" b="0">
                <a:solidFill>
                  <a:srgbClr val="6DE1EF"/>
                </a:solidFill>
              </a:rPr>
              <a:t>Bayan Abduldayem</a:t>
            </a:r>
          </a:p>
          <a:p xmlns:a="http://schemas.openxmlformats.org/drawingml/2006/main">
            <a:pPr>
              <a:defRPr sz="2025" b="0">
                <a:solidFill>
                  <a:srgbClr val="6DE1EF"/>
                </a:solidFill>
              </a:defRPr>
            </a:pPr>
            <a:r>
              <a:rPr sz="2025" b="0">
                <a:solidFill>
                  <a:srgbClr val="6DE1EF"/>
                </a:solidFill>
              </a:rPr>
              <a:t>Ghala Bin-Salim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14E4C-18CE-413D-9C7E-276C25D5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FFFFF"/>
                </a:solidFill>
              </a:defRPr>
            </a:defPPr>
            <a:lvl1pPr>
              <a:defRPr sz="1650" b="0">
                <a:solidFill>
                  <a:srgbClr val="FFFFFF"/>
                </a:solidFill>
              </a:defRPr>
            </a:lvl1pPr>
            <a:lvl2pPr>
              <a:defRPr sz="1650" b="0">
                <a:solidFill>
                  <a:srgbClr val="FFFFFF"/>
                </a:solidFill>
              </a:defRPr>
            </a:lvl2pPr>
            <a:lvl3pPr>
              <a:defRPr sz="1650" b="0">
                <a:solidFill>
                  <a:srgbClr val="FFFFFF"/>
                </a:solidFill>
              </a:defRPr>
            </a:lvl3pPr>
            <a:lvl4pPr>
              <a:defRPr sz="1650" b="0">
                <a:solidFill>
                  <a:srgbClr val="FFFFFF"/>
                </a:solidFill>
              </a:defRPr>
            </a:lvl4pPr>
            <a:lvl5pPr>
              <a:defRPr sz="1650" b="0">
                <a:solidFill>
                  <a:srgbClr val="FFFFFF"/>
                </a:solidFill>
              </a:defRPr>
            </a:lvl5pPr>
            <a:lvl6pPr>
              <a:defRPr sz="1650" b="0">
                <a:solidFill>
                  <a:srgbClr val="FFFFFF"/>
                </a:solidFill>
              </a:defRPr>
            </a:lvl6pPr>
            <a:lvl7pPr>
              <a:defRPr sz="1650" b="0">
                <a:solidFill>
                  <a:srgbClr val="FFFFFF"/>
                </a:solidFill>
              </a:defRPr>
            </a:lvl7pPr>
            <a:lvl8pPr>
              <a:defRPr sz="1650" b="0">
                <a:solidFill>
                  <a:srgbClr val="FFFFFF"/>
                </a:solidFill>
              </a:defRPr>
            </a:lvl8pPr>
            <a:lvl9pPr>
              <a:defRPr sz="16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Effat University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Dr. Naila Marir</a:t>
            </a:r>
          </a:p>
        </p:txBody>
      </p:sp>
    </p:spTree>
    <p:extLst>
      <p:ext uri="{BB962C8B-B14F-4D97-AF65-F5344CB8AC3E}">
        <p14:creationId xmlns:p14="http://schemas.microsoft.com/office/powerpoint/2010/main" val="14106768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51B92-8026-4630-AAC0-37105A97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F97"/>
                </a:solidFill>
              </a:defRPr>
            </a:defPPr>
            <a:lvl1pPr>
              <a:defRPr sz="1275" b="1">
                <a:solidFill>
                  <a:srgbClr val="007F97"/>
                </a:solidFill>
              </a:defRPr>
            </a:lvl1pPr>
            <a:lvl2pPr>
              <a:defRPr sz="1275" b="1">
                <a:solidFill>
                  <a:srgbClr val="007F97"/>
                </a:solidFill>
              </a:defRPr>
            </a:lvl2pPr>
            <a:lvl3pPr>
              <a:defRPr sz="1275" b="1">
                <a:solidFill>
                  <a:srgbClr val="007F97"/>
                </a:solidFill>
              </a:defRPr>
            </a:lvl3pPr>
            <a:lvl4pPr>
              <a:defRPr sz="1275" b="1">
                <a:solidFill>
                  <a:srgbClr val="007F97"/>
                </a:solidFill>
              </a:defRPr>
            </a:lvl4pPr>
            <a:lvl5pPr>
              <a:defRPr sz="1275" b="1">
                <a:solidFill>
                  <a:srgbClr val="007F97"/>
                </a:solidFill>
              </a:defRPr>
            </a:lvl5pPr>
            <a:lvl6pPr>
              <a:defRPr sz="1275" b="1">
                <a:solidFill>
                  <a:srgbClr val="007F97"/>
                </a:solidFill>
              </a:defRPr>
            </a:lvl6pPr>
            <a:lvl7pPr>
              <a:defRPr sz="1275" b="1">
                <a:solidFill>
                  <a:srgbClr val="007F97"/>
                </a:solidFill>
              </a:defRPr>
            </a:lvl7pPr>
            <a:lvl8pPr>
              <a:defRPr sz="1275" b="1">
                <a:solidFill>
                  <a:srgbClr val="007F97"/>
                </a:solidFill>
              </a:defRPr>
            </a:lvl8pPr>
            <a:lvl9pPr>
              <a:defRPr sz="1275" b="1">
                <a:solidFill>
                  <a:srgbClr val="007F97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F97"/>
                </a:solidFill>
              </a:defRPr>
            </a:pPr>
            <a:r>
              <a:rPr sz="1275" b="1">
                <a:solidFill>
                  <a:srgbClr val="007F97"/>
                </a:solidFill>
              </a:rPr>
              <a:t>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C5F38-F6AA-41C9-B802-B04DA334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1B35"/>
                </a:solidFill>
              </a:defRPr>
            </a:defPPr>
            <a:lvl1pPr>
              <a:defRPr sz="3150" b="1">
                <a:solidFill>
                  <a:srgbClr val="101B35"/>
                </a:solidFill>
              </a:defRPr>
            </a:lvl1pPr>
            <a:lvl2pPr>
              <a:defRPr sz="3150" b="1">
                <a:solidFill>
                  <a:srgbClr val="101B35"/>
                </a:solidFill>
              </a:defRPr>
            </a:lvl2pPr>
            <a:lvl3pPr>
              <a:defRPr sz="3150" b="1">
                <a:solidFill>
                  <a:srgbClr val="101B35"/>
                </a:solidFill>
              </a:defRPr>
            </a:lvl3pPr>
            <a:lvl4pPr>
              <a:defRPr sz="3150" b="1">
                <a:solidFill>
                  <a:srgbClr val="101B35"/>
                </a:solidFill>
              </a:defRPr>
            </a:lvl4pPr>
            <a:lvl5pPr>
              <a:defRPr sz="3150" b="1">
                <a:solidFill>
                  <a:srgbClr val="101B35"/>
                </a:solidFill>
              </a:defRPr>
            </a:lvl5pPr>
            <a:lvl6pPr>
              <a:defRPr sz="3150" b="1">
                <a:solidFill>
                  <a:srgbClr val="101B35"/>
                </a:solidFill>
              </a:defRPr>
            </a:lvl6pPr>
            <a:lvl7pPr>
              <a:defRPr sz="3150" b="1">
                <a:solidFill>
                  <a:srgbClr val="101B35"/>
                </a:solidFill>
              </a:defRPr>
            </a:lvl7pPr>
            <a:lvl8pPr>
              <a:defRPr sz="3150" b="1">
                <a:solidFill>
                  <a:srgbClr val="101B35"/>
                </a:solidFill>
              </a:defRPr>
            </a:lvl8pPr>
            <a:lvl9pPr>
              <a:defRPr sz="3150" b="1">
                <a:solidFill>
                  <a:srgbClr val="101B35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1B35"/>
                </a:solidFill>
              </a:defRPr>
            </a:pPr>
            <a:r>
              <a:rPr sz="3150" b="1">
                <a:solidFill>
                  <a:srgbClr val="101B35"/>
                </a:solidFill>
              </a:rPr>
              <a:t>The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C060F-8AFB-4EC2-89E4-497E1A90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7"/>
                </a:solidFill>
              </a:defRPr>
            </a:defPPr>
            <a:lvl1pPr>
              <a:defRPr sz="1200" b="0">
                <a:solidFill>
                  <a:srgbClr val="526277"/>
                </a:solidFill>
              </a:defRPr>
            </a:lvl1pPr>
            <a:lvl2pPr>
              <a:defRPr sz="1200" b="0">
                <a:solidFill>
                  <a:srgbClr val="526277"/>
                </a:solidFill>
              </a:defRPr>
            </a:lvl2pPr>
            <a:lvl3pPr>
              <a:defRPr sz="1200" b="0">
                <a:solidFill>
                  <a:srgbClr val="526277"/>
                </a:solidFill>
              </a:defRPr>
            </a:lvl3pPr>
            <a:lvl4pPr>
              <a:defRPr sz="1200" b="0">
                <a:solidFill>
                  <a:srgbClr val="526277"/>
                </a:solidFill>
              </a:defRPr>
            </a:lvl4pPr>
            <a:lvl5pPr>
              <a:defRPr sz="1200" b="0">
                <a:solidFill>
                  <a:srgbClr val="526277"/>
                </a:solidFill>
              </a:defRPr>
            </a:lvl5pPr>
            <a:lvl6pPr>
              <a:defRPr sz="1200" b="0">
                <a:solidFill>
                  <a:srgbClr val="526277"/>
                </a:solidFill>
              </a:defRPr>
            </a:lvl6pPr>
            <a:lvl7pPr>
              <a:defRPr sz="1200" b="0">
                <a:solidFill>
                  <a:srgbClr val="526277"/>
                </a:solidFill>
              </a:defRPr>
            </a:lvl7pPr>
            <a:lvl8pPr>
              <a:defRPr sz="1200" b="0">
                <a:solidFill>
                  <a:srgbClr val="526277"/>
                </a:solidFill>
              </a:defRPr>
            </a:lvl8pPr>
            <a:lvl9pPr>
              <a:defRPr sz="1200" b="0">
                <a:solidFill>
                  <a:srgbClr val="52627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277"/>
                </a:solidFill>
              </a:defRPr>
            </a:pPr>
            <a:r>
              <a:rPr sz="1200" b="0">
                <a:solidFill>
                  <a:srgbClr val="526277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0D651-CEEC-4FC9-853E-EFB314C1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43A"/>
                </a:solidFill>
              </a:defRPr>
            </a:defPPr>
            <a:lvl1pPr>
              <a:defRPr sz="2175" b="0">
                <a:solidFill>
                  <a:srgbClr val="17243A"/>
                </a:solidFill>
              </a:defRPr>
            </a:lvl1pPr>
            <a:lvl2pPr>
              <a:defRPr sz="2175" b="0">
                <a:solidFill>
                  <a:srgbClr val="17243A"/>
                </a:solidFill>
              </a:defRPr>
            </a:lvl2pPr>
            <a:lvl3pPr>
              <a:defRPr sz="2175" b="0">
                <a:solidFill>
                  <a:srgbClr val="17243A"/>
                </a:solidFill>
              </a:defRPr>
            </a:lvl3pPr>
            <a:lvl4pPr>
              <a:defRPr sz="2175" b="0">
                <a:solidFill>
                  <a:srgbClr val="17243A"/>
                </a:solidFill>
              </a:defRPr>
            </a:lvl4pPr>
            <a:lvl5pPr>
              <a:defRPr sz="2175" b="0">
                <a:solidFill>
                  <a:srgbClr val="17243A"/>
                </a:solidFill>
              </a:defRPr>
            </a:lvl5pPr>
            <a:lvl6pPr>
              <a:defRPr sz="2175" b="0">
                <a:solidFill>
                  <a:srgbClr val="17243A"/>
                </a:solidFill>
              </a:defRPr>
            </a:lvl6pPr>
            <a:lvl7pPr>
              <a:defRPr sz="2175" b="0">
                <a:solidFill>
                  <a:srgbClr val="17243A"/>
                </a:solidFill>
              </a:defRPr>
            </a:lvl7pPr>
            <a:lvl8pPr>
              <a:defRPr sz="2175" b="0">
                <a:solidFill>
                  <a:srgbClr val="17243A"/>
                </a:solidFill>
              </a:defRPr>
            </a:lvl8pPr>
            <a:lvl9pPr>
              <a:defRPr sz="2175" b="0">
                <a:solidFill>
                  <a:srgbClr val="17243A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43A"/>
                </a:solidFill>
              </a:defRPr>
            </a:pPr>
            <a:r>
              <a:rPr sz="2175" b="0">
                <a:solidFill>
                  <a:srgbClr val="17243A"/>
                </a:solidFill>
              </a:rPr>
              <a:t>A final exam paper disappeared. Sara, Omar, and Lina were seen near the office. Seven clues form our evidence.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CA746-6735-4901-8B95-211113D93615}"/>
              </a:ext>
            </a:extLst>
          </p:cNvPr>
          <p:cNvGraphicFramePr/>
          <p:nvPr/>
        </p:nvGraphicFramePr>
        <p:xfrm>
          <a:off xmlns:a="http://schemas.openxmlformats.org/drawingml/2006/main" x="609600" y="2809875"/>
          <a:ext xmlns:a="http://schemas.openxmlformats.org/drawingml/2006/main" cx="1095375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7620000"/>
                <a:gridCol w="2095500"/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Level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01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01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Time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01B35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Convert clues to CNF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10 min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Match clauses and resolve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10 min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03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Prove or test accusations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20 min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Present and review proofs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10 min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52C0A-ADE7-49F5-AE77-E77E532C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7F97"/>
                </a:solidFill>
              </a:defRPr>
            </a:defPPr>
            <a:lvl1pPr>
              <a:defRPr sz="1650" b="1">
                <a:solidFill>
                  <a:srgbClr val="007F97"/>
                </a:solidFill>
              </a:defRPr>
            </a:lvl1pPr>
            <a:lvl2pPr>
              <a:defRPr sz="1650" b="1">
                <a:solidFill>
                  <a:srgbClr val="007F97"/>
                </a:solidFill>
              </a:defRPr>
            </a:lvl2pPr>
            <a:lvl3pPr>
              <a:defRPr sz="1650" b="1">
                <a:solidFill>
                  <a:srgbClr val="007F97"/>
                </a:solidFill>
              </a:defRPr>
            </a:lvl3pPr>
            <a:lvl4pPr>
              <a:defRPr sz="1650" b="1">
                <a:solidFill>
                  <a:srgbClr val="007F97"/>
                </a:solidFill>
              </a:defRPr>
            </a:lvl4pPr>
            <a:lvl5pPr>
              <a:defRPr sz="1650" b="1">
                <a:solidFill>
                  <a:srgbClr val="007F97"/>
                </a:solidFill>
              </a:defRPr>
            </a:lvl5pPr>
            <a:lvl6pPr>
              <a:defRPr sz="1650" b="1">
                <a:solidFill>
                  <a:srgbClr val="007F97"/>
                </a:solidFill>
              </a:defRPr>
            </a:lvl6pPr>
            <a:lvl7pPr>
              <a:defRPr sz="1650" b="1">
                <a:solidFill>
                  <a:srgbClr val="007F97"/>
                </a:solidFill>
              </a:defRPr>
            </a:lvl7pPr>
            <a:lvl8pPr>
              <a:defRPr sz="1650" b="1">
                <a:solidFill>
                  <a:srgbClr val="007F97"/>
                </a:solidFill>
              </a:defRPr>
            </a:lvl8pPr>
            <a:lvl9pPr>
              <a:defRPr sz="1650" b="1">
                <a:solidFill>
                  <a:srgbClr val="007F9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F97"/>
                </a:solidFill>
              </a:defRPr>
            </a:pPr>
            <a:r>
              <a:rPr sz="1650" b="1">
                <a:solidFill>
                  <a:srgbClr val="007F97"/>
                </a:solidFill>
              </a:rPr>
              <a:t>50 minutes. Roles rotate: Converter, Resolver, and Checker.</a:t>
            </a:r>
          </a:p>
        </p:txBody>
      </p:sp>
    </p:spTree>
    <p:extLst>
      <p:ext uri="{BB962C8B-B14F-4D97-AF65-F5344CB8AC3E}">
        <p14:creationId xmlns:p14="http://schemas.microsoft.com/office/powerpoint/2010/main" val="13385072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5FEC6-4124-4732-ADC7-03A15860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F97"/>
                </a:solidFill>
              </a:defRPr>
            </a:defPPr>
            <a:lvl1pPr>
              <a:defRPr sz="1275" b="1">
                <a:solidFill>
                  <a:srgbClr val="007F97"/>
                </a:solidFill>
              </a:defRPr>
            </a:lvl1pPr>
            <a:lvl2pPr>
              <a:defRPr sz="1275" b="1">
                <a:solidFill>
                  <a:srgbClr val="007F97"/>
                </a:solidFill>
              </a:defRPr>
            </a:lvl2pPr>
            <a:lvl3pPr>
              <a:defRPr sz="1275" b="1">
                <a:solidFill>
                  <a:srgbClr val="007F97"/>
                </a:solidFill>
              </a:defRPr>
            </a:lvl3pPr>
            <a:lvl4pPr>
              <a:defRPr sz="1275" b="1">
                <a:solidFill>
                  <a:srgbClr val="007F97"/>
                </a:solidFill>
              </a:defRPr>
            </a:lvl4pPr>
            <a:lvl5pPr>
              <a:defRPr sz="1275" b="1">
                <a:solidFill>
                  <a:srgbClr val="007F97"/>
                </a:solidFill>
              </a:defRPr>
            </a:lvl5pPr>
            <a:lvl6pPr>
              <a:defRPr sz="1275" b="1">
                <a:solidFill>
                  <a:srgbClr val="007F97"/>
                </a:solidFill>
              </a:defRPr>
            </a:lvl6pPr>
            <a:lvl7pPr>
              <a:defRPr sz="1275" b="1">
                <a:solidFill>
                  <a:srgbClr val="007F97"/>
                </a:solidFill>
              </a:defRPr>
            </a:lvl7pPr>
            <a:lvl8pPr>
              <a:defRPr sz="1275" b="1">
                <a:solidFill>
                  <a:srgbClr val="007F97"/>
                </a:solidFill>
              </a:defRPr>
            </a:lvl8pPr>
            <a:lvl9pPr>
              <a:defRPr sz="1275" b="1">
                <a:solidFill>
                  <a:srgbClr val="007F97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F97"/>
                </a:solidFill>
              </a:defRPr>
            </a:pPr>
            <a:r>
              <a:rPr sz="1275" b="1">
                <a:solidFill>
                  <a:srgbClr val="007F97"/>
                </a:solidFill>
              </a:rPr>
              <a:t>LEVEL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FC440-9E90-40EE-80E5-D2322576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1B35"/>
                </a:solidFill>
              </a:defRPr>
            </a:defPPr>
            <a:lvl1pPr>
              <a:defRPr sz="3150" b="1">
                <a:solidFill>
                  <a:srgbClr val="101B35"/>
                </a:solidFill>
              </a:defRPr>
            </a:lvl1pPr>
            <a:lvl2pPr>
              <a:defRPr sz="3150" b="1">
                <a:solidFill>
                  <a:srgbClr val="101B35"/>
                </a:solidFill>
              </a:defRPr>
            </a:lvl2pPr>
            <a:lvl3pPr>
              <a:defRPr sz="3150" b="1">
                <a:solidFill>
                  <a:srgbClr val="101B35"/>
                </a:solidFill>
              </a:defRPr>
            </a:lvl3pPr>
            <a:lvl4pPr>
              <a:defRPr sz="3150" b="1">
                <a:solidFill>
                  <a:srgbClr val="101B35"/>
                </a:solidFill>
              </a:defRPr>
            </a:lvl4pPr>
            <a:lvl5pPr>
              <a:defRPr sz="3150" b="1">
                <a:solidFill>
                  <a:srgbClr val="101B35"/>
                </a:solidFill>
              </a:defRPr>
            </a:lvl5pPr>
            <a:lvl6pPr>
              <a:defRPr sz="3150" b="1">
                <a:solidFill>
                  <a:srgbClr val="101B35"/>
                </a:solidFill>
              </a:defRPr>
            </a:lvl6pPr>
            <a:lvl7pPr>
              <a:defRPr sz="3150" b="1">
                <a:solidFill>
                  <a:srgbClr val="101B35"/>
                </a:solidFill>
              </a:defRPr>
            </a:lvl7pPr>
            <a:lvl8pPr>
              <a:defRPr sz="3150" b="1">
                <a:solidFill>
                  <a:srgbClr val="101B35"/>
                </a:solidFill>
              </a:defRPr>
            </a:lvl8pPr>
            <a:lvl9pPr>
              <a:defRPr sz="3150" b="1">
                <a:solidFill>
                  <a:srgbClr val="101B35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1B35"/>
                </a:solidFill>
              </a:defRPr>
            </a:pPr>
            <a:r>
              <a:rPr sz="3150" b="1">
                <a:solidFill>
                  <a:srgbClr val="101B35"/>
                </a:solidFill>
              </a:rPr>
              <a:t>CNF Relay: the conversions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DC520-E715-4E32-AE5E-DF5C8D10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7"/>
                </a:solidFill>
              </a:defRPr>
            </a:defPPr>
            <a:lvl1pPr>
              <a:defRPr sz="1200" b="0">
                <a:solidFill>
                  <a:srgbClr val="526277"/>
                </a:solidFill>
              </a:defRPr>
            </a:lvl1pPr>
            <a:lvl2pPr>
              <a:defRPr sz="1200" b="0">
                <a:solidFill>
                  <a:srgbClr val="526277"/>
                </a:solidFill>
              </a:defRPr>
            </a:lvl2pPr>
            <a:lvl3pPr>
              <a:defRPr sz="1200" b="0">
                <a:solidFill>
                  <a:srgbClr val="526277"/>
                </a:solidFill>
              </a:defRPr>
            </a:lvl3pPr>
            <a:lvl4pPr>
              <a:defRPr sz="1200" b="0">
                <a:solidFill>
                  <a:srgbClr val="526277"/>
                </a:solidFill>
              </a:defRPr>
            </a:lvl4pPr>
            <a:lvl5pPr>
              <a:defRPr sz="1200" b="0">
                <a:solidFill>
                  <a:srgbClr val="526277"/>
                </a:solidFill>
              </a:defRPr>
            </a:lvl5pPr>
            <a:lvl6pPr>
              <a:defRPr sz="1200" b="0">
                <a:solidFill>
                  <a:srgbClr val="526277"/>
                </a:solidFill>
              </a:defRPr>
            </a:lvl6pPr>
            <a:lvl7pPr>
              <a:defRPr sz="1200" b="0">
                <a:solidFill>
                  <a:srgbClr val="526277"/>
                </a:solidFill>
              </a:defRPr>
            </a:lvl7pPr>
            <a:lvl8pPr>
              <a:defRPr sz="1200" b="0">
                <a:solidFill>
                  <a:srgbClr val="526277"/>
                </a:solidFill>
              </a:defRPr>
            </a:lvl8pPr>
            <a:lvl9pPr>
              <a:defRPr sz="1200" b="0">
                <a:solidFill>
                  <a:srgbClr val="52627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277"/>
                </a:solidFill>
              </a:defRPr>
            </a:pPr>
            <a:r>
              <a:rPr sz="1200" b="0">
                <a:solidFill>
                  <a:srgbClr val="526277"/>
                </a:solidFill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0642B-3BF1-4881-932F-6AC4C5A4CB8A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5375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6953250"/>
                <a:gridCol w="3143250"/>
              </a:tblGrid>
              <a:tr h="7715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Clue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01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Equivalent expressions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01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Rule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01B35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3A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3A"/>
                          </a:solidFill>
                        </a:rPr>
                        <a:t>D → (S ∨ O) ≡ ¬D ∨ S ∨ 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3A"/>
                          </a:solidFill>
                        </a:rPr>
                        <a:t>Eliminate 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3A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3A"/>
                          </a:solidFill>
                        </a:rPr>
                        <a:t>(S ∨ F) → C</a:t>
                      </a:r>
                    </a:p>
                    <a:p>
                      <a:r>
                        <a:rPr sz="1575" b="0">
                          <a:solidFill>
                            <a:srgbClr val="17243A"/>
                          </a:solidFill>
                        </a:rPr>
                        <a:t>≡ ¬(S ∨ F) ∨ C</a:t>
                      </a:r>
                    </a:p>
                    <a:p>
                      <a:r>
                        <a:rPr sz="1575" b="0">
                          <a:solidFill>
                            <a:srgbClr val="17243A"/>
                          </a:solidFill>
                        </a:rPr>
                        <a:t>≡ (¬S ∧ ¬F) ∨ C</a:t>
                      </a:r>
                    </a:p>
                    <a:p>
                      <a:r>
                        <a:rPr sz="1575" b="0">
                          <a:solidFill>
                            <a:srgbClr val="17243A"/>
                          </a:solidFill>
                        </a:rPr>
                        <a:t>≡ (¬S ∨ C) ∧ (¬F ∨ C)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3A"/>
                          </a:solidFill>
                        </a:rPr>
                        <a:t>Eliminate →</a:t>
                      </a:r>
                    </a:p>
                    <a:p>
                      <a:r>
                        <a:rPr sz="1575" b="0">
                          <a:solidFill>
                            <a:srgbClr val="17243A"/>
                          </a:solidFill>
                        </a:rPr>
                        <a:t>De Morgan</a:t>
                      </a:r>
                    </a:p>
                    <a:p>
                      <a:r>
                        <a:rPr sz="1575" b="0">
                          <a:solidFill>
                            <a:srgbClr val="17243A"/>
                          </a:solidFill>
                        </a:rPr>
                        <a:t>Distribution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3A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3A"/>
                          </a:solidFill>
                        </a:rPr>
                        <a:t>Y ↔ K</a:t>
                      </a:r>
                    </a:p>
                    <a:p>
                      <a:r>
                        <a:rPr sz="1575" b="0">
                          <a:solidFill>
                            <a:srgbClr val="17243A"/>
                          </a:solidFill>
                        </a:rPr>
                        <a:t>≡ (Y → K) ∧ (K → Y)</a:t>
                      </a:r>
                    </a:p>
                    <a:p>
                      <a:r>
                        <a:rPr sz="1575" b="0">
                          <a:solidFill>
                            <a:srgbClr val="17243A"/>
                          </a:solidFill>
                        </a:rPr>
                        <a:t>≡ (¬Y ∨ K) ∧ (¬K ∨ Y)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3A"/>
                          </a:solidFill>
                        </a:rPr>
                        <a:t>Eliminate ↔</a:t>
                      </a:r>
                    </a:p>
                    <a:p>
                      <a:r>
                        <a:rPr sz="1575" b="0">
                          <a:solidFill>
                            <a:srgbClr val="17243A"/>
                          </a:solidFill>
                        </a:rPr>
                        <a:t>Eliminate 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3A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3A"/>
                          </a:solidFill>
                        </a:rPr>
                        <a:t>¬(K ∧ A) ≡ ¬K ∨ ¬A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3A"/>
                          </a:solidFill>
                        </a:rPr>
                        <a:t>De Morgan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18E5D-ADD0-4749-B886-43A18805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7F97"/>
                </a:solidFill>
              </a:defRPr>
            </a:defPPr>
            <a:lvl1pPr>
              <a:defRPr sz="1650" b="1">
                <a:solidFill>
                  <a:srgbClr val="007F97"/>
                </a:solidFill>
              </a:defRPr>
            </a:lvl1pPr>
            <a:lvl2pPr>
              <a:defRPr sz="1650" b="1">
                <a:solidFill>
                  <a:srgbClr val="007F97"/>
                </a:solidFill>
              </a:defRPr>
            </a:lvl2pPr>
            <a:lvl3pPr>
              <a:defRPr sz="1650" b="1">
                <a:solidFill>
                  <a:srgbClr val="007F97"/>
                </a:solidFill>
              </a:defRPr>
            </a:lvl3pPr>
            <a:lvl4pPr>
              <a:defRPr sz="1650" b="1">
                <a:solidFill>
                  <a:srgbClr val="007F97"/>
                </a:solidFill>
              </a:defRPr>
            </a:lvl4pPr>
            <a:lvl5pPr>
              <a:defRPr sz="1650" b="1">
                <a:solidFill>
                  <a:srgbClr val="007F97"/>
                </a:solidFill>
              </a:defRPr>
            </a:lvl5pPr>
            <a:lvl6pPr>
              <a:defRPr sz="1650" b="1">
                <a:solidFill>
                  <a:srgbClr val="007F97"/>
                </a:solidFill>
              </a:defRPr>
            </a:lvl6pPr>
            <a:lvl7pPr>
              <a:defRPr sz="1650" b="1">
                <a:solidFill>
                  <a:srgbClr val="007F97"/>
                </a:solidFill>
              </a:defRPr>
            </a:lvl7pPr>
            <a:lvl8pPr>
              <a:defRPr sz="1650" b="1">
                <a:solidFill>
                  <a:srgbClr val="007F97"/>
                </a:solidFill>
              </a:defRPr>
            </a:lvl8pPr>
            <a:lvl9pPr>
              <a:defRPr sz="1650" b="1">
                <a:solidFill>
                  <a:srgbClr val="007F9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F97"/>
                </a:solidFill>
              </a:defRPr>
            </a:pPr>
            <a:r>
              <a:rPr sz="1650" b="1">
                <a:solidFill>
                  <a:srgbClr val="007F97"/>
                </a:solidFill>
              </a:rPr>
              <a:t>CNF is an AND of clauses. Each clause is an OR of literals.</a:t>
            </a:r>
          </a:p>
        </p:txBody>
      </p:sp>
    </p:spTree>
    <p:extLst>
      <p:ext uri="{BB962C8B-B14F-4D97-AF65-F5344CB8AC3E}">
        <p14:creationId xmlns:p14="http://schemas.microsoft.com/office/powerpoint/2010/main" val="6288782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FD124-FEEE-40C9-AD0C-04A48174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F97"/>
                </a:solidFill>
              </a:defRPr>
            </a:defPPr>
            <a:lvl1pPr>
              <a:defRPr sz="1275" b="1">
                <a:solidFill>
                  <a:srgbClr val="007F97"/>
                </a:solidFill>
              </a:defRPr>
            </a:lvl1pPr>
            <a:lvl2pPr>
              <a:defRPr sz="1275" b="1">
                <a:solidFill>
                  <a:srgbClr val="007F97"/>
                </a:solidFill>
              </a:defRPr>
            </a:lvl2pPr>
            <a:lvl3pPr>
              <a:defRPr sz="1275" b="1">
                <a:solidFill>
                  <a:srgbClr val="007F97"/>
                </a:solidFill>
              </a:defRPr>
            </a:lvl3pPr>
            <a:lvl4pPr>
              <a:defRPr sz="1275" b="1">
                <a:solidFill>
                  <a:srgbClr val="007F97"/>
                </a:solidFill>
              </a:defRPr>
            </a:lvl4pPr>
            <a:lvl5pPr>
              <a:defRPr sz="1275" b="1">
                <a:solidFill>
                  <a:srgbClr val="007F97"/>
                </a:solidFill>
              </a:defRPr>
            </a:lvl5pPr>
            <a:lvl6pPr>
              <a:defRPr sz="1275" b="1">
                <a:solidFill>
                  <a:srgbClr val="007F97"/>
                </a:solidFill>
              </a:defRPr>
            </a:lvl6pPr>
            <a:lvl7pPr>
              <a:defRPr sz="1275" b="1">
                <a:solidFill>
                  <a:srgbClr val="007F97"/>
                </a:solidFill>
              </a:defRPr>
            </a:lvl7pPr>
            <a:lvl8pPr>
              <a:defRPr sz="1275" b="1">
                <a:solidFill>
                  <a:srgbClr val="007F97"/>
                </a:solidFill>
              </a:defRPr>
            </a:lvl8pPr>
            <a:lvl9pPr>
              <a:defRPr sz="1275" b="1">
                <a:solidFill>
                  <a:srgbClr val="007F97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F97"/>
                </a:solidFill>
              </a:defRPr>
            </a:pPr>
            <a:r>
              <a:rPr sz="1275" b="1">
                <a:solidFill>
                  <a:srgbClr val="007F97"/>
                </a:solidFill>
              </a:rPr>
              <a:t>LEVEL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EC237-2A3A-426A-85BD-CC92EAB0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1B35"/>
                </a:solidFill>
              </a:defRPr>
            </a:defPPr>
            <a:lvl1pPr>
              <a:defRPr sz="3150" b="1">
                <a:solidFill>
                  <a:srgbClr val="101B35"/>
                </a:solidFill>
              </a:defRPr>
            </a:lvl1pPr>
            <a:lvl2pPr>
              <a:defRPr sz="3150" b="1">
                <a:solidFill>
                  <a:srgbClr val="101B35"/>
                </a:solidFill>
              </a:defRPr>
            </a:lvl2pPr>
            <a:lvl3pPr>
              <a:defRPr sz="3150" b="1">
                <a:solidFill>
                  <a:srgbClr val="101B35"/>
                </a:solidFill>
              </a:defRPr>
            </a:lvl3pPr>
            <a:lvl4pPr>
              <a:defRPr sz="3150" b="1">
                <a:solidFill>
                  <a:srgbClr val="101B35"/>
                </a:solidFill>
              </a:defRPr>
            </a:lvl4pPr>
            <a:lvl5pPr>
              <a:defRPr sz="3150" b="1">
                <a:solidFill>
                  <a:srgbClr val="101B35"/>
                </a:solidFill>
              </a:defRPr>
            </a:lvl5pPr>
            <a:lvl6pPr>
              <a:defRPr sz="3150" b="1">
                <a:solidFill>
                  <a:srgbClr val="101B35"/>
                </a:solidFill>
              </a:defRPr>
            </a:lvl6pPr>
            <a:lvl7pPr>
              <a:defRPr sz="3150" b="1">
                <a:solidFill>
                  <a:srgbClr val="101B35"/>
                </a:solidFill>
              </a:defRPr>
            </a:lvl7pPr>
            <a:lvl8pPr>
              <a:defRPr sz="3150" b="1">
                <a:solidFill>
                  <a:srgbClr val="101B35"/>
                </a:solidFill>
              </a:defRPr>
            </a:lvl8pPr>
            <a:lvl9pPr>
              <a:defRPr sz="3150" b="1">
                <a:solidFill>
                  <a:srgbClr val="101B35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1B35"/>
                </a:solidFill>
              </a:defRPr>
            </a:pPr>
            <a:r>
              <a:rPr sz="3150" b="1">
                <a:solidFill>
                  <a:srgbClr val="101B35"/>
                </a:solidFill>
              </a:rPr>
              <a:t>The complete knowledge 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FE251-CB00-42A0-A519-16ABE12C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7"/>
                </a:solidFill>
              </a:defRPr>
            </a:defPPr>
            <a:lvl1pPr>
              <a:defRPr sz="1200" b="0">
                <a:solidFill>
                  <a:srgbClr val="526277"/>
                </a:solidFill>
              </a:defRPr>
            </a:lvl1pPr>
            <a:lvl2pPr>
              <a:defRPr sz="1200" b="0">
                <a:solidFill>
                  <a:srgbClr val="526277"/>
                </a:solidFill>
              </a:defRPr>
            </a:lvl2pPr>
            <a:lvl3pPr>
              <a:defRPr sz="1200" b="0">
                <a:solidFill>
                  <a:srgbClr val="526277"/>
                </a:solidFill>
              </a:defRPr>
            </a:lvl3pPr>
            <a:lvl4pPr>
              <a:defRPr sz="1200" b="0">
                <a:solidFill>
                  <a:srgbClr val="526277"/>
                </a:solidFill>
              </a:defRPr>
            </a:lvl4pPr>
            <a:lvl5pPr>
              <a:defRPr sz="1200" b="0">
                <a:solidFill>
                  <a:srgbClr val="526277"/>
                </a:solidFill>
              </a:defRPr>
            </a:lvl5pPr>
            <a:lvl6pPr>
              <a:defRPr sz="1200" b="0">
                <a:solidFill>
                  <a:srgbClr val="526277"/>
                </a:solidFill>
              </a:defRPr>
            </a:lvl6pPr>
            <a:lvl7pPr>
              <a:defRPr sz="1200" b="0">
                <a:solidFill>
                  <a:srgbClr val="526277"/>
                </a:solidFill>
              </a:defRPr>
            </a:lvl7pPr>
            <a:lvl8pPr>
              <a:defRPr sz="1200" b="0">
                <a:solidFill>
                  <a:srgbClr val="526277"/>
                </a:solidFill>
              </a:defRPr>
            </a:lvl8pPr>
            <a:lvl9pPr>
              <a:defRPr sz="1200" b="0">
                <a:solidFill>
                  <a:srgbClr val="52627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277"/>
                </a:solidFill>
              </a:defRPr>
            </a:pPr>
            <a:r>
              <a:rPr sz="1200" b="0">
                <a:solidFill>
                  <a:srgbClr val="526277"/>
                </a:solidFill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2522E-A379-45B0-88C4-B29E198F031D}"/>
              </a:ext>
            </a:extLst>
          </p:cNvPr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55245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4572000"/>
              </a:tblGrid>
              <a:tr h="4048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01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Clause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01B35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43A"/>
                          </a:solidFill>
                        </a:rPr>
                        <a:t>K1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43A"/>
                          </a:solidFill>
                        </a:rPr>
                        <a:t>¬D ∨ S ∨ 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43A"/>
                          </a:solidFill>
                        </a:rPr>
                        <a:t>K2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43A"/>
                          </a:solidFill>
                        </a:rPr>
                        <a:t>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43A"/>
                          </a:solidFill>
                        </a:rPr>
                        <a:t>K3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43A"/>
                          </a:solidFill>
                        </a:rPr>
                        <a:t>¬S ∨ 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43A"/>
                          </a:solidFill>
                        </a:rPr>
                        <a:t>K4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43A"/>
                          </a:solidFill>
                        </a:rPr>
                        <a:t>¬F ∨ 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43A"/>
                          </a:solidFill>
                        </a:rPr>
                        <a:t>K5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43A"/>
                          </a:solidFill>
                        </a:rPr>
                        <a:t>¬C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43A"/>
                          </a:solidFill>
                        </a:rPr>
                        <a:t>K6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43A"/>
                          </a:solidFill>
                        </a:rPr>
                        <a:t>¬L ∨ 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43A"/>
                          </a:solidFill>
                        </a:rPr>
                        <a:t>K7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43A"/>
                          </a:solidFill>
                        </a:rPr>
                        <a:t>¬Y ∨ 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43A"/>
                          </a:solidFill>
                        </a:rPr>
                        <a:t>K8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43A"/>
                          </a:solidFill>
                        </a:rPr>
                        <a:t>¬K ∨ 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43A"/>
                          </a:solidFill>
                        </a:rPr>
                        <a:t>K9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43A"/>
                          </a:solidFill>
                        </a:rPr>
                        <a:t>¬K ∨ ¬A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103F2-25E3-49C2-AE87-3C23D0CD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4762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243A"/>
                </a:solidFill>
              </a:defRPr>
            </a:defPPr>
            <a:lvl1pPr>
              <a:defRPr sz="1725" b="0">
                <a:solidFill>
                  <a:srgbClr val="17243A"/>
                </a:solidFill>
              </a:defRPr>
            </a:lvl1pPr>
            <a:lvl2pPr>
              <a:defRPr sz="1725" b="0">
                <a:solidFill>
                  <a:srgbClr val="17243A"/>
                </a:solidFill>
              </a:defRPr>
            </a:lvl2pPr>
            <a:lvl3pPr>
              <a:defRPr sz="1725" b="0">
                <a:solidFill>
                  <a:srgbClr val="17243A"/>
                </a:solidFill>
              </a:defRPr>
            </a:lvl3pPr>
            <a:lvl4pPr>
              <a:defRPr sz="1725" b="0">
                <a:solidFill>
                  <a:srgbClr val="17243A"/>
                </a:solidFill>
              </a:defRPr>
            </a:lvl4pPr>
            <a:lvl5pPr>
              <a:defRPr sz="1725" b="0">
                <a:solidFill>
                  <a:srgbClr val="17243A"/>
                </a:solidFill>
              </a:defRPr>
            </a:lvl5pPr>
            <a:lvl6pPr>
              <a:defRPr sz="1725" b="0">
                <a:solidFill>
                  <a:srgbClr val="17243A"/>
                </a:solidFill>
              </a:defRPr>
            </a:lvl6pPr>
            <a:lvl7pPr>
              <a:defRPr sz="1725" b="0">
                <a:solidFill>
                  <a:srgbClr val="17243A"/>
                </a:solidFill>
              </a:defRPr>
            </a:lvl7pPr>
            <a:lvl8pPr>
              <a:defRPr sz="1725" b="0">
                <a:solidFill>
                  <a:srgbClr val="17243A"/>
                </a:solidFill>
              </a:defRPr>
            </a:lvl8pPr>
            <a:lvl9pPr>
              <a:defRPr sz="1725" b="0">
                <a:solidFill>
                  <a:srgbClr val="17243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43A"/>
                </a:solidFill>
              </a:defRPr>
            </a:pPr>
            <a:r>
              <a:rPr sz="1725" b="0">
                <a:solidFill>
                  <a:srgbClr val="17243A"/>
                </a:solidFill>
              </a:rPr>
              <a:t>D  Door unlocked</a:t>
            </a:r>
          </a:p>
          <a:p xmlns:a="http://schemas.openxmlformats.org/drawingml/2006/main">
            <a:pPr>
              <a:defRPr sz="1725" b="0">
                <a:solidFill>
                  <a:srgbClr val="17243A"/>
                </a:solidFill>
              </a:defRPr>
            </a:pPr>
            <a:r>
              <a:rPr sz="1725" b="0">
                <a:solidFill>
                  <a:srgbClr val="17243A"/>
                </a:solidFill>
              </a:rPr>
              <a:t>S  Sara took the paper</a:t>
            </a:r>
          </a:p>
          <a:p xmlns:a="http://schemas.openxmlformats.org/drawingml/2006/main">
            <a:pPr>
              <a:defRPr sz="1725" b="0">
                <a:solidFill>
                  <a:srgbClr val="17243A"/>
                </a:solidFill>
              </a:defRPr>
            </a:pPr>
            <a:r>
              <a:rPr sz="1725" b="0">
                <a:solidFill>
                  <a:srgbClr val="17243A"/>
                </a:solidFill>
              </a:rPr>
              <a:t>O  Omar took the paper</a:t>
            </a:r>
          </a:p>
          <a:p xmlns:a="http://schemas.openxmlformats.org/drawingml/2006/main">
            <a:pPr>
              <a:defRPr sz="1725" b="0">
                <a:solidFill>
                  <a:srgbClr val="17243A"/>
                </a:solidFill>
              </a:defRPr>
            </a:pPr>
            <a:r>
              <a:rPr sz="1725" b="0">
                <a:solidFill>
                  <a:srgbClr val="17243A"/>
                </a:solidFill>
              </a:rPr>
              <a:t>L  Lina took the paper</a:t>
            </a:r>
          </a:p>
          <a:p xmlns:a="http://schemas.openxmlformats.org/drawingml/2006/main">
            <a:pPr>
              <a:defRPr sz="1725" b="0">
                <a:solidFill>
                  <a:srgbClr val="17243A"/>
                </a:solidFill>
              </a:defRPr>
            </a:pPr>
            <a:r>
              <a:rPr sz="1725" b="0">
                <a:solidFill>
                  <a:srgbClr val="17243A"/>
                </a:solidFill>
              </a:rPr>
              <a:t>C  Camera switched off</a:t>
            </a:r>
          </a:p>
          <a:p xmlns:a="http://schemas.openxmlformats.org/drawingml/2006/main">
            <a:pPr>
              <a:defRPr sz="1725" b="0">
                <a:solidFill>
                  <a:srgbClr val="17243A"/>
                </a:solidFill>
              </a:defRPr>
            </a:pPr>
            <a:r>
              <a:rPr sz="1725" b="0">
                <a:solidFill>
                  <a:srgbClr val="17243A"/>
                </a:solidFill>
              </a:rPr>
              <a:t>F  Door forced open</a:t>
            </a:r>
          </a:p>
          <a:p xmlns:a="http://schemas.openxmlformats.org/drawingml/2006/main">
            <a:pPr>
              <a:defRPr sz="1725" b="0">
                <a:solidFill>
                  <a:srgbClr val="17243A"/>
                </a:solidFill>
              </a:defRPr>
            </a:pPr>
            <a:r>
              <a:rPr sz="1725" b="0">
                <a:solidFill>
                  <a:srgbClr val="17243A"/>
                </a:solidFill>
              </a:rPr>
              <a:t>Y  Lina had a key copy</a:t>
            </a:r>
          </a:p>
          <a:p xmlns:a="http://schemas.openxmlformats.org/drawingml/2006/main">
            <a:pPr>
              <a:defRPr sz="1725" b="0">
                <a:solidFill>
                  <a:srgbClr val="17243A"/>
                </a:solidFill>
              </a:defRPr>
            </a:pPr>
            <a:r>
              <a:rPr sz="1725" b="0">
                <a:solidFill>
                  <a:srgbClr val="17243A"/>
                </a:solidFill>
              </a:rPr>
              <a:t>K  Khalid lent his key</a:t>
            </a:r>
          </a:p>
          <a:p xmlns:a="http://schemas.openxmlformats.org/drawingml/2006/main">
            <a:pPr>
              <a:defRPr sz="1725" b="0">
                <a:solidFill>
                  <a:srgbClr val="17243A"/>
                </a:solidFill>
              </a:defRPr>
            </a:pPr>
            <a:r>
              <a:rPr sz="1725" b="0">
                <a:solidFill>
                  <a:srgbClr val="17243A"/>
                </a:solidFill>
              </a:rPr>
              <a:t>A  Alarm rang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192D8-7D08-4454-801D-A16FDCE8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7F97"/>
                </a:solidFill>
              </a:defRPr>
            </a:defPPr>
            <a:lvl1pPr>
              <a:defRPr sz="1650" b="1">
                <a:solidFill>
                  <a:srgbClr val="007F97"/>
                </a:solidFill>
              </a:defRPr>
            </a:lvl1pPr>
            <a:lvl2pPr>
              <a:defRPr sz="1650" b="1">
                <a:solidFill>
                  <a:srgbClr val="007F97"/>
                </a:solidFill>
              </a:defRPr>
            </a:lvl2pPr>
            <a:lvl3pPr>
              <a:defRPr sz="1650" b="1">
                <a:solidFill>
                  <a:srgbClr val="007F97"/>
                </a:solidFill>
              </a:defRPr>
            </a:lvl3pPr>
            <a:lvl4pPr>
              <a:defRPr sz="1650" b="1">
                <a:solidFill>
                  <a:srgbClr val="007F97"/>
                </a:solidFill>
              </a:defRPr>
            </a:lvl4pPr>
            <a:lvl5pPr>
              <a:defRPr sz="1650" b="1">
                <a:solidFill>
                  <a:srgbClr val="007F97"/>
                </a:solidFill>
              </a:defRPr>
            </a:lvl5pPr>
            <a:lvl6pPr>
              <a:defRPr sz="1650" b="1">
                <a:solidFill>
                  <a:srgbClr val="007F97"/>
                </a:solidFill>
              </a:defRPr>
            </a:lvl6pPr>
            <a:lvl7pPr>
              <a:defRPr sz="1650" b="1">
                <a:solidFill>
                  <a:srgbClr val="007F97"/>
                </a:solidFill>
              </a:defRPr>
            </a:lvl7pPr>
            <a:lvl8pPr>
              <a:defRPr sz="1650" b="1">
                <a:solidFill>
                  <a:srgbClr val="007F97"/>
                </a:solidFill>
              </a:defRPr>
            </a:lvl8pPr>
            <a:lvl9pPr>
              <a:defRPr sz="1650" b="1">
                <a:solidFill>
                  <a:srgbClr val="007F9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F97"/>
                </a:solidFill>
              </a:defRPr>
            </a:pPr>
            <a:r>
              <a:rPr sz="1650" b="1">
                <a:solidFill>
                  <a:srgbClr val="007F97"/>
                </a:solidFill>
              </a:rPr>
              <a:t>Nine clauses in total. K10 is unused.</a:t>
            </a:r>
          </a:p>
        </p:txBody>
      </p:sp>
    </p:spTree>
    <p:extLst>
      <p:ext uri="{BB962C8B-B14F-4D97-AF65-F5344CB8AC3E}">
        <p14:creationId xmlns:p14="http://schemas.microsoft.com/office/powerpoint/2010/main" val="5988555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0093E-1B41-4AB1-AE23-CE479608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F97"/>
                </a:solidFill>
              </a:defRPr>
            </a:defPPr>
            <a:lvl1pPr>
              <a:defRPr sz="1275" b="1">
                <a:solidFill>
                  <a:srgbClr val="007F97"/>
                </a:solidFill>
              </a:defRPr>
            </a:lvl1pPr>
            <a:lvl2pPr>
              <a:defRPr sz="1275" b="1">
                <a:solidFill>
                  <a:srgbClr val="007F97"/>
                </a:solidFill>
              </a:defRPr>
            </a:lvl2pPr>
            <a:lvl3pPr>
              <a:defRPr sz="1275" b="1">
                <a:solidFill>
                  <a:srgbClr val="007F97"/>
                </a:solidFill>
              </a:defRPr>
            </a:lvl3pPr>
            <a:lvl4pPr>
              <a:defRPr sz="1275" b="1">
                <a:solidFill>
                  <a:srgbClr val="007F97"/>
                </a:solidFill>
              </a:defRPr>
            </a:lvl4pPr>
            <a:lvl5pPr>
              <a:defRPr sz="1275" b="1">
                <a:solidFill>
                  <a:srgbClr val="007F97"/>
                </a:solidFill>
              </a:defRPr>
            </a:lvl5pPr>
            <a:lvl6pPr>
              <a:defRPr sz="1275" b="1">
                <a:solidFill>
                  <a:srgbClr val="007F97"/>
                </a:solidFill>
              </a:defRPr>
            </a:lvl6pPr>
            <a:lvl7pPr>
              <a:defRPr sz="1275" b="1">
                <a:solidFill>
                  <a:srgbClr val="007F97"/>
                </a:solidFill>
              </a:defRPr>
            </a:lvl7pPr>
            <a:lvl8pPr>
              <a:defRPr sz="1275" b="1">
                <a:solidFill>
                  <a:srgbClr val="007F97"/>
                </a:solidFill>
              </a:defRPr>
            </a:lvl8pPr>
            <a:lvl9pPr>
              <a:defRPr sz="1275" b="1">
                <a:solidFill>
                  <a:srgbClr val="007F97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F97"/>
                </a:solidFill>
              </a:defRPr>
            </a:pPr>
            <a:r>
              <a:rPr sz="1275" b="1">
                <a:solidFill>
                  <a:srgbClr val="007F97"/>
                </a:solidFill>
              </a:rPr>
              <a:t>LEVEL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1C895-53C5-4E85-B3AD-16EFBD6F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1B35"/>
                </a:solidFill>
              </a:defRPr>
            </a:defPPr>
            <a:lvl1pPr>
              <a:defRPr sz="3150" b="1">
                <a:solidFill>
                  <a:srgbClr val="101B35"/>
                </a:solidFill>
              </a:defRPr>
            </a:lvl1pPr>
            <a:lvl2pPr>
              <a:defRPr sz="3150" b="1">
                <a:solidFill>
                  <a:srgbClr val="101B35"/>
                </a:solidFill>
              </a:defRPr>
            </a:lvl2pPr>
            <a:lvl3pPr>
              <a:defRPr sz="3150" b="1">
                <a:solidFill>
                  <a:srgbClr val="101B35"/>
                </a:solidFill>
              </a:defRPr>
            </a:lvl3pPr>
            <a:lvl4pPr>
              <a:defRPr sz="3150" b="1">
                <a:solidFill>
                  <a:srgbClr val="101B35"/>
                </a:solidFill>
              </a:defRPr>
            </a:lvl4pPr>
            <a:lvl5pPr>
              <a:defRPr sz="3150" b="1">
                <a:solidFill>
                  <a:srgbClr val="101B35"/>
                </a:solidFill>
              </a:defRPr>
            </a:lvl5pPr>
            <a:lvl6pPr>
              <a:defRPr sz="3150" b="1">
                <a:solidFill>
                  <a:srgbClr val="101B35"/>
                </a:solidFill>
              </a:defRPr>
            </a:lvl6pPr>
            <a:lvl7pPr>
              <a:defRPr sz="3150" b="1">
                <a:solidFill>
                  <a:srgbClr val="101B35"/>
                </a:solidFill>
              </a:defRPr>
            </a:lvl7pPr>
            <a:lvl8pPr>
              <a:defRPr sz="3150" b="1">
                <a:solidFill>
                  <a:srgbClr val="101B35"/>
                </a:solidFill>
              </a:defRPr>
            </a:lvl8pPr>
            <a:lvl9pPr>
              <a:defRPr sz="3150" b="1">
                <a:solidFill>
                  <a:srgbClr val="101B35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1B35"/>
                </a:solidFill>
              </a:defRPr>
            </a:pPr>
            <a:r>
              <a:rPr sz="3150" b="1">
                <a:solidFill>
                  <a:srgbClr val="101B35"/>
                </a:solidFill>
              </a:rPr>
              <a:t>Resolution Dominoes: the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5C680-2891-4C46-91D0-D5BF2E91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7"/>
                </a:solidFill>
              </a:defRPr>
            </a:defPPr>
            <a:lvl1pPr>
              <a:defRPr sz="1200" b="0">
                <a:solidFill>
                  <a:srgbClr val="526277"/>
                </a:solidFill>
              </a:defRPr>
            </a:lvl1pPr>
            <a:lvl2pPr>
              <a:defRPr sz="1200" b="0">
                <a:solidFill>
                  <a:srgbClr val="526277"/>
                </a:solidFill>
              </a:defRPr>
            </a:lvl2pPr>
            <a:lvl3pPr>
              <a:defRPr sz="1200" b="0">
                <a:solidFill>
                  <a:srgbClr val="526277"/>
                </a:solidFill>
              </a:defRPr>
            </a:lvl3pPr>
            <a:lvl4pPr>
              <a:defRPr sz="1200" b="0">
                <a:solidFill>
                  <a:srgbClr val="526277"/>
                </a:solidFill>
              </a:defRPr>
            </a:lvl4pPr>
            <a:lvl5pPr>
              <a:defRPr sz="1200" b="0">
                <a:solidFill>
                  <a:srgbClr val="526277"/>
                </a:solidFill>
              </a:defRPr>
            </a:lvl5pPr>
            <a:lvl6pPr>
              <a:defRPr sz="1200" b="0">
                <a:solidFill>
                  <a:srgbClr val="526277"/>
                </a:solidFill>
              </a:defRPr>
            </a:lvl6pPr>
            <a:lvl7pPr>
              <a:defRPr sz="1200" b="0">
                <a:solidFill>
                  <a:srgbClr val="526277"/>
                </a:solidFill>
              </a:defRPr>
            </a:lvl7pPr>
            <a:lvl8pPr>
              <a:defRPr sz="1200" b="0">
                <a:solidFill>
                  <a:srgbClr val="526277"/>
                </a:solidFill>
              </a:defRPr>
            </a:lvl8pPr>
            <a:lvl9pPr>
              <a:defRPr sz="1200" b="0">
                <a:solidFill>
                  <a:srgbClr val="52627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277"/>
                </a:solidFill>
              </a:defRPr>
            </a:pPr>
            <a:r>
              <a:rPr sz="1200" b="0">
                <a:solidFill>
                  <a:srgbClr val="526277"/>
                </a:solidFill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BFC90-4D68-4F73-A0F3-E1E68807C4E2}"/>
              </a:ext>
            </a:extLst>
          </p:cNvPr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5375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1809750"/>
                <a:gridCol w="5953125"/>
                <a:gridCol w="1809750"/>
              </a:tblGrid>
              <a:tr h="49666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Cards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01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Resolve 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01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Resolvent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01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Factoring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01B35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A + 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H ∨ ¬H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B + 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U ∨ U ≡ U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Yes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C + 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Q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P ∨ 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D + J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X ∨ Z ∨ 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E + 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F + 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B ∨ S ∨ R ∨ S</a:t>
                      </a:r>
                    </a:p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≡ B ∨ R ∨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Yes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0672B-4471-40B5-BB80-41968C7E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243A"/>
                </a:solidFill>
              </a:defRPr>
            </a:defPPr>
            <a:lvl1pPr>
              <a:defRPr sz="1800" b="0">
                <a:solidFill>
                  <a:srgbClr val="17243A"/>
                </a:solidFill>
              </a:defRPr>
            </a:lvl1pPr>
            <a:lvl2pPr>
              <a:defRPr sz="1800" b="0">
                <a:solidFill>
                  <a:srgbClr val="17243A"/>
                </a:solidFill>
              </a:defRPr>
            </a:lvl2pPr>
            <a:lvl3pPr>
              <a:defRPr sz="1800" b="0">
                <a:solidFill>
                  <a:srgbClr val="17243A"/>
                </a:solidFill>
              </a:defRPr>
            </a:lvl3pPr>
            <a:lvl4pPr>
              <a:defRPr sz="1800" b="0">
                <a:solidFill>
                  <a:srgbClr val="17243A"/>
                </a:solidFill>
              </a:defRPr>
            </a:lvl4pPr>
            <a:lvl5pPr>
              <a:defRPr sz="1800" b="0">
                <a:solidFill>
                  <a:srgbClr val="17243A"/>
                </a:solidFill>
              </a:defRPr>
            </a:lvl5pPr>
            <a:lvl6pPr>
              <a:defRPr sz="1800" b="0">
                <a:solidFill>
                  <a:srgbClr val="17243A"/>
                </a:solidFill>
              </a:defRPr>
            </a:lvl6pPr>
            <a:lvl7pPr>
              <a:defRPr sz="1800" b="0">
                <a:solidFill>
                  <a:srgbClr val="17243A"/>
                </a:solidFill>
              </a:defRPr>
            </a:lvl7pPr>
            <a:lvl8pPr>
              <a:defRPr sz="1800" b="0">
                <a:solidFill>
                  <a:srgbClr val="17243A"/>
                </a:solidFill>
              </a:defRPr>
            </a:lvl8pPr>
            <a:lvl9pPr>
              <a:defRPr sz="1800" b="0">
                <a:solidFill>
                  <a:srgbClr val="1724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43A"/>
                </a:solidFill>
              </a:defRPr>
            </a:pPr>
            <a:r>
              <a:rPr sz="1800" b="0">
                <a:solidFill>
                  <a:srgbClr val="17243A"/>
                </a:solidFill>
              </a:rPr>
              <a:t>Resolution removes one complementary pair. Factoring removes repeated literals.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3C267-DDCE-4D59-9DD5-EFC77751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7F97"/>
                </a:solidFill>
              </a:defRPr>
            </a:defPPr>
            <a:lvl1pPr>
              <a:defRPr sz="1650" b="1">
                <a:solidFill>
                  <a:srgbClr val="007F97"/>
                </a:solidFill>
              </a:defRPr>
            </a:lvl1pPr>
            <a:lvl2pPr>
              <a:defRPr sz="1650" b="1">
                <a:solidFill>
                  <a:srgbClr val="007F97"/>
                </a:solidFill>
              </a:defRPr>
            </a:lvl2pPr>
            <a:lvl3pPr>
              <a:defRPr sz="1650" b="1">
                <a:solidFill>
                  <a:srgbClr val="007F97"/>
                </a:solidFill>
              </a:defRPr>
            </a:lvl3pPr>
            <a:lvl4pPr>
              <a:defRPr sz="1650" b="1">
                <a:solidFill>
                  <a:srgbClr val="007F97"/>
                </a:solidFill>
              </a:defRPr>
            </a:lvl4pPr>
            <a:lvl5pPr>
              <a:defRPr sz="1650" b="1">
                <a:solidFill>
                  <a:srgbClr val="007F97"/>
                </a:solidFill>
              </a:defRPr>
            </a:lvl5pPr>
            <a:lvl6pPr>
              <a:defRPr sz="1650" b="1">
                <a:solidFill>
                  <a:srgbClr val="007F97"/>
                </a:solidFill>
              </a:defRPr>
            </a:lvl6pPr>
            <a:lvl7pPr>
              <a:defRPr sz="1650" b="1">
                <a:solidFill>
                  <a:srgbClr val="007F97"/>
                </a:solidFill>
              </a:defRPr>
            </a:lvl7pPr>
            <a:lvl8pPr>
              <a:defRPr sz="1650" b="1">
                <a:solidFill>
                  <a:srgbClr val="007F97"/>
                </a:solidFill>
              </a:defRPr>
            </a:lvl8pPr>
            <a:lvl9pPr>
              <a:defRPr sz="1650" b="1">
                <a:solidFill>
                  <a:srgbClr val="007F9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F97"/>
                </a:solidFill>
              </a:defRPr>
            </a:pPr>
            <a:r>
              <a:rPr sz="1650" b="1">
                <a:solidFill>
                  <a:srgbClr val="007F97"/>
                </a:solidFill>
              </a:rPr>
              <a:t>Example: (T ∨ U) with (¬T ∨ U) gives U ∨ U, then U.</a:t>
            </a:r>
          </a:p>
        </p:txBody>
      </p:sp>
    </p:spTree>
    <p:extLst>
      <p:ext uri="{BB962C8B-B14F-4D97-AF65-F5344CB8AC3E}">
        <p14:creationId xmlns:p14="http://schemas.microsoft.com/office/powerpoint/2010/main" val="6442314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8B2EB-8185-40CC-8E35-0A6A43F1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F97"/>
                </a:solidFill>
              </a:defRPr>
            </a:defPPr>
            <a:lvl1pPr>
              <a:defRPr sz="1275" b="1">
                <a:solidFill>
                  <a:srgbClr val="007F97"/>
                </a:solidFill>
              </a:defRPr>
            </a:lvl1pPr>
            <a:lvl2pPr>
              <a:defRPr sz="1275" b="1">
                <a:solidFill>
                  <a:srgbClr val="007F97"/>
                </a:solidFill>
              </a:defRPr>
            </a:lvl2pPr>
            <a:lvl3pPr>
              <a:defRPr sz="1275" b="1">
                <a:solidFill>
                  <a:srgbClr val="007F97"/>
                </a:solidFill>
              </a:defRPr>
            </a:lvl3pPr>
            <a:lvl4pPr>
              <a:defRPr sz="1275" b="1">
                <a:solidFill>
                  <a:srgbClr val="007F97"/>
                </a:solidFill>
              </a:defRPr>
            </a:lvl4pPr>
            <a:lvl5pPr>
              <a:defRPr sz="1275" b="1">
                <a:solidFill>
                  <a:srgbClr val="007F97"/>
                </a:solidFill>
              </a:defRPr>
            </a:lvl5pPr>
            <a:lvl6pPr>
              <a:defRPr sz="1275" b="1">
                <a:solidFill>
                  <a:srgbClr val="007F97"/>
                </a:solidFill>
              </a:defRPr>
            </a:lvl6pPr>
            <a:lvl7pPr>
              <a:defRPr sz="1275" b="1">
                <a:solidFill>
                  <a:srgbClr val="007F97"/>
                </a:solidFill>
              </a:defRPr>
            </a:lvl7pPr>
            <a:lvl8pPr>
              <a:defRPr sz="1275" b="1">
                <a:solidFill>
                  <a:srgbClr val="007F97"/>
                </a:solidFill>
              </a:defRPr>
            </a:lvl8pPr>
            <a:lvl9pPr>
              <a:defRPr sz="1275" b="1">
                <a:solidFill>
                  <a:srgbClr val="007F97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F97"/>
                </a:solidFill>
              </a:defRPr>
            </a:pPr>
            <a:r>
              <a:rPr sz="1275" b="1">
                <a:solidFill>
                  <a:srgbClr val="007F97"/>
                </a:solidFill>
              </a:rPr>
              <a:t>LEVEL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4B012-D6FC-4C06-9F44-25531E21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1B35"/>
                </a:solidFill>
              </a:defRPr>
            </a:defPPr>
            <a:lvl1pPr>
              <a:defRPr sz="3150" b="1">
                <a:solidFill>
                  <a:srgbClr val="101B35"/>
                </a:solidFill>
              </a:defRPr>
            </a:lvl1pPr>
            <a:lvl2pPr>
              <a:defRPr sz="3150" b="1">
                <a:solidFill>
                  <a:srgbClr val="101B35"/>
                </a:solidFill>
              </a:defRPr>
            </a:lvl2pPr>
            <a:lvl3pPr>
              <a:defRPr sz="3150" b="1">
                <a:solidFill>
                  <a:srgbClr val="101B35"/>
                </a:solidFill>
              </a:defRPr>
            </a:lvl3pPr>
            <a:lvl4pPr>
              <a:defRPr sz="3150" b="1">
                <a:solidFill>
                  <a:srgbClr val="101B35"/>
                </a:solidFill>
              </a:defRPr>
            </a:lvl4pPr>
            <a:lvl5pPr>
              <a:defRPr sz="3150" b="1">
                <a:solidFill>
                  <a:srgbClr val="101B35"/>
                </a:solidFill>
              </a:defRPr>
            </a:lvl5pPr>
            <a:lvl6pPr>
              <a:defRPr sz="3150" b="1">
                <a:solidFill>
                  <a:srgbClr val="101B35"/>
                </a:solidFill>
              </a:defRPr>
            </a:lvl6pPr>
            <a:lvl7pPr>
              <a:defRPr sz="3150" b="1">
                <a:solidFill>
                  <a:srgbClr val="101B35"/>
                </a:solidFill>
              </a:defRPr>
            </a:lvl7pPr>
            <a:lvl8pPr>
              <a:defRPr sz="3150" b="1">
                <a:solidFill>
                  <a:srgbClr val="101B35"/>
                </a:solidFill>
              </a:defRPr>
            </a:lvl8pPr>
            <a:lvl9pPr>
              <a:defRPr sz="3150" b="1">
                <a:solidFill>
                  <a:srgbClr val="101B35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1B35"/>
                </a:solidFill>
              </a:defRPr>
            </a:pPr>
            <a:r>
              <a:rPr sz="3150" b="1">
                <a:solidFill>
                  <a:srgbClr val="101B35"/>
                </a:solidFill>
              </a:rPr>
              <a:t>The trap pair: A +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5E48C-5BB1-4C55-BF08-FC1084ED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7"/>
                </a:solidFill>
              </a:defRPr>
            </a:defPPr>
            <a:lvl1pPr>
              <a:defRPr sz="1200" b="0">
                <a:solidFill>
                  <a:srgbClr val="526277"/>
                </a:solidFill>
              </a:defRPr>
            </a:lvl1pPr>
            <a:lvl2pPr>
              <a:defRPr sz="1200" b="0">
                <a:solidFill>
                  <a:srgbClr val="526277"/>
                </a:solidFill>
              </a:defRPr>
            </a:lvl2pPr>
            <a:lvl3pPr>
              <a:defRPr sz="1200" b="0">
                <a:solidFill>
                  <a:srgbClr val="526277"/>
                </a:solidFill>
              </a:defRPr>
            </a:lvl3pPr>
            <a:lvl4pPr>
              <a:defRPr sz="1200" b="0">
                <a:solidFill>
                  <a:srgbClr val="526277"/>
                </a:solidFill>
              </a:defRPr>
            </a:lvl4pPr>
            <a:lvl5pPr>
              <a:defRPr sz="1200" b="0">
                <a:solidFill>
                  <a:srgbClr val="526277"/>
                </a:solidFill>
              </a:defRPr>
            </a:lvl5pPr>
            <a:lvl6pPr>
              <a:defRPr sz="1200" b="0">
                <a:solidFill>
                  <a:srgbClr val="526277"/>
                </a:solidFill>
              </a:defRPr>
            </a:lvl6pPr>
            <a:lvl7pPr>
              <a:defRPr sz="1200" b="0">
                <a:solidFill>
                  <a:srgbClr val="526277"/>
                </a:solidFill>
              </a:defRPr>
            </a:lvl7pPr>
            <a:lvl8pPr>
              <a:defRPr sz="1200" b="0">
                <a:solidFill>
                  <a:srgbClr val="526277"/>
                </a:solidFill>
              </a:defRPr>
            </a:lvl8pPr>
            <a:lvl9pPr>
              <a:defRPr sz="1200" b="0">
                <a:solidFill>
                  <a:srgbClr val="52627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277"/>
                </a:solidFill>
              </a:defRPr>
            </a:pPr>
            <a:r>
              <a:rPr sz="1200" b="0">
                <a:solidFill>
                  <a:srgbClr val="526277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6A753-376E-4A2B-88A6-C7626A5C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43A"/>
                </a:solidFill>
              </a:defRPr>
            </a:defPPr>
            <a:lvl1pPr>
              <a:defRPr sz="3150" b="0">
                <a:solidFill>
                  <a:srgbClr val="17243A"/>
                </a:solidFill>
              </a:defRPr>
            </a:lvl1pPr>
            <a:lvl2pPr>
              <a:defRPr sz="3150" b="0">
                <a:solidFill>
                  <a:srgbClr val="17243A"/>
                </a:solidFill>
              </a:defRPr>
            </a:lvl2pPr>
            <a:lvl3pPr>
              <a:defRPr sz="3150" b="0">
                <a:solidFill>
                  <a:srgbClr val="17243A"/>
                </a:solidFill>
              </a:defRPr>
            </a:lvl3pPr>
            <a:lvl4pPr>
              <a:defRPr sz="3150" b="0">
                <a:solidFill>
                  <a:srgbClr val="17243A"/>
                </a:solidFill>
              </a:defRPr>
            </a:lvl4pPr>
            <a:lvl5pPr>
              <a:defRPr sz="3150" b="0">
                <a:solidFill>
                  <a:srgbClr val="17243A"/>
                </a:solidFill>
              </a:defRPr>
            </a:lvl5pPr>
            <a:lvl6pPr>
              <a:defRPr sz="3150" b="0">
                <a:solidFill>
                  <a:srgbClr val="17243A"/>
                </a:solidFill>
              </a:defRPr>
            </a:lvl6pPr>
            <a:lvl7pPr>
              <a:defRPr sz="3150" b="0">
                <a:solidFill>
                  <a:srgbClr val="17243A"/>
                </a:solidFill>
              </a:defRPr>
            </a:lvl7pPr>
            <a:lvl8pPr>
              <a:defRPr sz="3150" b="0">
                <a:solidFill>
                  <a:srgbClr val="17243A"/>
                </a:solidFill>
              </a:defRPr>
            </a:lvl8pPr>
            <a:lvl9pPr>
              <a:defRPr sz="3150" b="0">
                <a:solidFill>
                  <a:srgbClr val="17243A"/>
                </a:solidFill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243A"/>
                </a:solidFill>
              </a:defRPr>
            </a:pPr>
            <a:r>
              <a:rPr sz="3150" b="0">
                <a:solidFill>
                  <a:srgbClr val="17243A"/>
                </a:solidFill>
              </a:rPr>
              <a:t>(G ∨ H)       (¬G ∨ ¬H)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E6A41-0A1D-4DB9-879B-57DDEC75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95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17243A"/>
                </a:solidFill>
              </a:defRPr>
            </a:defPPr>
            <a:lvl1pPr>
              <a:defRPr sz="2625" b="0">
                <a:solidFill>
                  <a:srgbClr val="17243A"/>
                </a:solidFill>
              </a:defRPr>
            </a:lvl1pPr>
            <a:lvl2pPr>
              <a:defRPr sz="2625" b="0">
                <a:solidFill>
                  <a:srgbClr val="17243A"/>
                </a:solidFill>
              </a:defRPr>
            </a:lvl2pPr>
            <a:lvl3pPr>
              <a:defRPr sz="2625" b="0">
                <a:solidFill>
                  <a:srgbClr val="17243A"/>
                </a:solidFill>
              </a:defRPr>
            </a:lvl3pPr>
            <a:lvl4pPr>
              <a:defRPr sz="2625" b="0">
                <a:solidFill>
                  <a:srgbClr val="17243A"/>
                </a:solidFill>
              </a:defRPr>
            </a:lvl4pPr>
            <a:lvl5pPr>
              <a:defRPr sz="2625" b="0">
                <a:solidFill>
                  <a:srgbClr val="17243A"/>
                </a:solidFill>
              </a:defRPr>
            </a:lvl5pPr>
            <a:lvl6pPr>
              <a:defRPr sz="2625" b="0">
                <a:solidFill>
                  <a:srgbClr val="17243A"/>
                </a:solidFill>
              </a:defRPr>
            </a:lvl6pPr>
            <a:lvl7pPr>
              <a:defRPr sz="2625" b="0">
                <a:solidFill>
                  <a:srgbClr val="17243A"/>
                </a:solidFill>
              </a:defRPr>
            </a:lvl7pPr>
            <a:lvl8pPr>
              <a:defRPr sz="2625" b="0">
                <a:solidFill>
                  <a:srgbClr val="17243A"/>
                </a:solidFill>
              </a:defRPr>
            </a:lvl8pPr>
            <a:lvl9pPr>
              <a:defRPr sz="2625" b="0">
                <a:solidFill>
                  <a:srgbClr val="17243A"/>
                </a:solidFill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7243A"/>
                </a:solidFill>
              </a:defRPr>
            </a:pPr>
            <a:r>
              <a:rPr sz="2625" b="0">
                <a:solidFill>
                  <a:srgbClr val="17243A"/>
                </a:solidFill>
              </a:rPr>
              <a:t>Resolve on G:   H ∨ ¬H</a:t>
            </a:r>
          </a:p>
          <a:p xmlns:a="http://schemas.openxmlformats.org/drawingml/2006/main">
            <a:pPr>
              <a:defRPr sz="2625" b="0">
                <a:solidFill>
                  <a:srgbClr val="17243A"/>
                </a:solidFill>
              </a:defRPr>
            </a:pPr>
            <a:r>
              <a:rPr sz="2625" b="0">
                <a:solidFill>
                  <a:srgbClr val="17243A"/>
                </a:solidFill>
              </a:rPr>
              <a:t>Resolve on H:   G ∨ ¬G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6AA62-F30E-4E95-888B-A95A26DB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95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43A"/>
                </a:solidFill>
              </a:defRPr>
            </a:defPPr>
            <a:lvl1pPr>
              <a:defRPr sz="2025" b="0">
                <a:solidFill>
                  <a:srgbClr val="17243A"/>
                </a:solidFill>
              </a:defRPr>
            </a:lvl1pPr>
            <a:lvl2pPr>
              <a:defRPr sz="2025" b="0">
                <a:solidFill>
                  <a:srgbClr val="17243A"/>
                </a:solidFill>
              </a:defRPr>
            </a:lvl2pPr>
            <a:lvl3pPr>
              <a:defRPr sz="2025" b="0">
                <a:solidFill>
                  <a:srgbClr val="17243A"/>
                </a:solidFill>
              </a:defRPr>
            </a:lvl3pPr>
            <a:lvl4pPr>
              <a:defRPr sz="2025" b="0">
                <a:solidFill>
                  <a:srgbClr val="17243A"/>
                </a:solidFill>
              </a:defRPr>
            </a:lvl4pPr>
            <a:lvl5pPr>
              <a:defRPr sz="2025" b="0">
                <a:solidFill>
                  <a:srgbClr val="17243A"/>
                </a:solidFill>
              </a:defRPr>
            </a:lvl5pPr>
            <a:lvl6pPr>
              <a:defRPr sz="2025" b="0">
                <a:solidFill>
                  <a:srgbClr val="17243A"/>
                </a:solidFill>
              </a:defRPr>
            </a:lvl6pPr>
            <a:lvl7pPr>
              <a:defRPr sz="2025" b="0">
                <a:solidFill>
                  <a:srgbClr val="17243A"/>
                </a:solidFill>
              </a:defRPr>
            </a:lvl7pPr>
            <a:lvl8pPr>
              <a:defRPr sz="2025" b="0">
                <a:solidFill>
                  <a:srgbClr val="17243A"/>
                </a:solidFill>
              </a:defRPr>
            </a:lvl8pPr>
            <a:lvl9pPr>
              <a:defRPr sz="2025" b="0">
                <a:solidFill>
                  <a:srgbClr val="17243A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43A"/>
                </a:solidFill>
              </a:defRPr>
            </a:pPr>
            <a:r>
              <a:rPr sz="2025" b="0">
                <a:solidFill>
                  <a:srgbClr val="17243A"/>
                </a:solidFill>
              </a:rPr>
              <a:t>Each result is a tautology: it is always true.</a:t>
            </a:r>
          </a:p>
          <a:p xmlns:a="http://schemas.openxmlformats.org/drawingml/2006/main">
            <a:pPr>
              <a:defRPr sz="2025" b="0">
                <a:solidFill>
                  <a:srgbClr val="17243A"/>
                </a:solidFill>
              </a:defRPr>
            </a:pPr>
            <a:r>
              <a:rPr sz="2025" b="0">
                <a:solidFill>
                  <a:srgbClr val="17243A"/>
                </a:solidFill>
              </a:rPr>
              <a:t>One step removes only one complementary pair.</a:t>
            </a:r>
          </a:p>
          <a:p xmlns:a="http://schemas.openxmlformats.org/drawingml/2006/main">
            <a:pPr>
              <a:defRPr sz="2025" b="0">
                <a:solidFill>
                  <a:srgbClr val="17243A"/>
                </a:solidFill>
              </a:defRPr>
            </a:pPr>
            <a:r>
              <a:rPr sz="2025" b="0">
                <a:solidFill>
                  <a:srgbClr val="17243A"/>
                </a:solidFill>
              </a:rPr>
              <a:t>Cancelling both pairs at once is invalid.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29B69-8236-4FB0-9379-8B3AB14C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7F97"/>
                </a:solidFill>
              </a:defRPr>
            </a:defPPr>
            <a:lvl1pPr>
              <a:defRPr sz="1650" b="1">
                <a:solidFill>
                  <a:srgbClr val="007F97"/>
                </a:solidFill>
              </a:defRPr>
            </a:lvl1pPr>
            <a:lvl2pPr>
              <a:defRPr sz="1650" b="1">
                <a:solidFill>
                  <a:srgbClr val="007F97"/>
                </a:solidFill>
              </a:defRPr>
            </a:lvl2pPr>
            <a:lvl3pPr>
              <a:defRPr sz="1650" b="1">
                <a:solidFill>
                  <a:srgbClr val="007F97"/>
                </a:solidFill>
              </a:defRPr>
            </a:lvl3pPr>
            <a:lvl4pPr>
              <a:defRPr sz="1650" b="1">
                <a:solidFill>
                  <a:srgbClr val="007F97"/>
                </a:solidFill>
              </a:defRPr>
            </a:lvl4pPr>
            <a:lvl5pPr>
              <a:defRPr sz="1650" b="1">
                <a:solidFill>
                  <a:srgbClr val="007F97"/>
                </a:solidFill>
              </a:defRPr>
            </a:lvl5pPr>
            <a:lvl6pPr>
              <a:defRPr sz="1650" b="1">
                <a:solidFill>
                  <a:srgbClr val="007F97"/>
                </a:solidFill>
              </a:defRPr>
            </a:lvl6pPr>
            <a:lvl7pPr>
              <a:defRPr sz="1650" b="1">
                <a:solidFill>
                  <a:srgbClr val="007F97"/>
                </a:solidFill>
              </a:defRPr>
            </a:lvl7pPr>
            <a:lvl8pPr>
              <a:defRPr sz="1650" b="1">
                <a:solidFill>
                  <a:srgbClr val="007F97"/>
                </a:solidFill>
              </a:defRPr>
            </a:lvl8pPr>
            <a:lvl9pPr>
              <a:defRPr sz="1650" b="1">
                <a:solidFill>
                  <a:srgbClr val="007F9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F97"/>
                </a:solidFill>
              </a:defRPr>
            </a:pPr>
            <a:r>
              <a:rPr sz="1650" b="1">
                <a:solidFill>
                  <a:srgbClr val="007F97"/>
                </a:solidFill>
              </a:rPr>
              <a:t>M and ¬M give □. The empty clause represents a contradiction.</a:t>
            </a:r>
          </a:p>
        </p:txBody>
      </p:sp>
    </p:spTree>
    <p:extLst>
      <p:ext uri="{BB962C8B-B14F-4D97-AF65-F5344CB8AC3E}">
        <p14:creationId xmlns:p14="http://schemas.microsoft.com/office/powerpoint/2010/main" val="19283105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4256C-EAB6-46C8-AED1-C4A55490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F97"/>
                </a:solidFill>
              </a:defRPr>
            </a:defPPr>
            <a:lvl1pPr>
              <a:defRPr sz="1275" b="1">
                <a:solidFill>
                  <a:srgbClr val="007F97"/>
                </a:solidFill>
              </a:defRPr>
            </a:lvl1pPr>
            <a:lvl2pPr>
              <a:defRPr sz="1275" b="1">
                <a:solidFill>
                  <a:srgbClr val="007F97"/>
                </a:solidFill>
              </a:defRPr>
            </a:lvl2pPr>
            <a:lvl3pPr>
              <a:defRPr sz="1275" b="1">
                <a:solidFill>
                  <a:srgbClr val="007F97"/>
                </a:solidFill>
              </a:defRPr>
            </a:lvl3pPr>
            <a:lvl4pPr>
              <a:defRPr sz="1275" b="1">
                <a:solidFill>
                  <a:srgbClr val="007F97"/>
                </a:solidFill>
              </a:defRPr>
            </a:lvl4pPr>
            <a:lvl5pPr>
              <a:defRPr sz="1275" b="1">
                <a:solidFill>
                  <a:srgbClr val="007F97"/>
                </a:solidFill>
              </a:defRPr>
            </a:lvl5pPr>
            <a:lvl6pPr>
              <a:defRPr sz="1275" b="1">
                <a:solidFill>
                  <a:srgbClr val="007F97"/>
                </a:solidFill>
              </a:defRPr>
            </a:lvl6pPr>
            <a:lvl7pPr>
              <a:defRPr sz="1275" b="1">
                <a:solidFill>
                  <a:srgbClr val="007F97"/>
                </a:solidFill>
              </a:defRPr>
            </a:lvl7pPr>
            <a:lvl8pPr>
              <a:defRPr sz="1275" b="1">
                <a:solidFill>
                  <a:srgbClr val="007F97"/>
                </a:solidFill>
              </a:defRPr>
            </a:lvl8pPr>
            <a:lvl9pPr>
              <a:defRPr sz="1275" b="1">
                <a:solidFill>
                  <a:srgbClr val="007F97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F97"/>
                </a:solidFill>
              </a:defRPr>
            </a:pPr>
            <a:r>
              <a:rPr sz="1275" b="1">
                <a:solidFill>
                  <a:srgbClr val="007F97"/>
                </a:solidFill>
              </a:rPr>
              <a:t>LEVEL 03A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53172-76E7-43D3-92A1-C4103A13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1B35"/>
                </a:solidFill>
              </a:defRPr>
            </a:defPPr>
            <a:lvl1pPr>
              <a:defRPr sz="3150" b="1">
                <a:solidFill>
                  <a:srgbClr val="101B35"/>
                </a:solidFill>
              </a:defRPr>
            </a:lvl1pPr>
            <a:lvl2pPr>
              <a:defRPr sz="3150" b="1">
                <a:solidFill>
                  <a:srgbClr val="101B35"/>
                </a:solidFill>
              </a:defRPr>
            </a:lvl2pPr>
            <a:lvl3pPr>
              <a:defRPr sz="3150" b="1">
                <a:solidFill>
                  <a:srgbClr val="101B35"/>
                </a:solidFill>
              </a:defRPr>
            </a:lvl3pPr>
            <a:lvl4pPr>
              <a:defRPr sz="3150" b="1">
                <a:solidFill>
                  <a:srgbClr val="101B35"/>
                </a:solidFill>
              </a:defRPr>
            </a:lvl4pPr>
            <a:lvl5pPr>
              <a:defRPr sz="3150" b="1">
                <a:solidFill>
                  <a:srgbClr val="101B35"/>
                </a:solidFill>
              </a:defRPr>
            </a:lvl5pPr>
            <a:lvl6pPr>
              <a:defRPr sz="3150" b="1">
                <a:solidFill>
                  <a:srgbClr val="101B35"/>
                </a:solidFill>
              </a:defRPr>
            </a:lvl6pPr>
            <a:lvl7pPr>
              <a:defRPr sz="3150" b="1">
                <a:solidFill>
                  <a:srgbClr val="101B35"/>
                </a:solidFill>
              </a:defRPr>
            </a:lvl7pPr>
            <a:lvl8pPr>
              <a:defRPr sz="3150" b="1">
                <a:solidFill>
                  <a:srgbClr val="101B35"/>
                </a:solidFill>
              </a:defRPr>
            </a:lvl8pPr>
            <a:lvl9pPr>
              <a:defRPr sz="3150" b="1">
                <a:solidFill>
                  <a:srgbClr val="101B35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1B35"/>
                </a:solidFill>
              </a:defRPr>
            </a:pPr>
            <a:r>
              <a:rPr sz="3150" b="1">
                <a:solidFill>
                  <a:srgbClr val="101B35"/>
                </a:solidFill>
              </a:rPr>
              <a:t>Omar took the paper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21B12-CE4B-4855-9247-6BE711A0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7"/>
                </a:solidFill>
              </a:defRPr>
            </a:defPPr>
            <a:lvl1pPr>
              <a:defRPr sz="1200" b="0">
                <a:solidFill>
                  <a:srgbClr val="526277"/>
                </a:solidFill>
              </a:defRPr>
            </a:lvl1pPr>
            <a:lvl2pPr>
              <a:defRPr sz="1200" b="0">
                <a:solidFill>
                  <a:srgbClr val="526277"/>
                </a:solidFill>
              </a:defRPr>
            </a:lvl2pPr>
            <a:lvl3pPr>
              <a:defRPr sz="1200" b="0">
                <a:solidFill>
                  <a:srgbClr val="526277"/>
                </a:solidFill>
              </a:defRPr>
            </a:lvl3pPr>
            <a:lvl4pPr>
              <a:defRPr sz="1200" b="0">
                <a:solidFill>
                  <a:srgbClr val="526277"/>
                </a:solidFill>
              </a:defRPr>
            </a:lvl4pPr>
            <a:lvl5pPr>
              <a:defRPr sz="1200" b="0">
                <a:solidFill>
                  <a:srgbClr val="526277"/>
                </a:solidFill>
              </a:defRPr>
            </a:lvl5pPr>
            <a:lvl6pPr>
              <a:defRPr sz="1200" b="0">
                <a:solidFill>
                  <a:srgbClr val="526277"/>
                </a:solidFill>
              </a:defRPr>
            </a:lvl6pPr>
            <a:lvl7pPr>
              <a:defRPr sz="1200" b="0">
                <a:solidFill>
                  <a:srgbClr val="526277"/>
                </a:solidFill>
              </a:defRPr>
            </a:lvl7pPr>
            <a:lvl8pPr>
              <a:defRPr sz="1200" b="0">
                <a:solidFill>
                  <a:srgbClr val="526277"/>
                </a:solidFill>
              </a:defRPr>
            </a:lvl8pPr>
            <a:lvl9pPr>
              <a:defRPr sz="1200" b="0">
                <a:solidFill>
                  <a:srgbClr val="52627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277"/>
                </a:solidFill>
              </a:defRPr>
            </a:pPr>
            <a:r>
              <a:rPr sz="1200" b="0">
                <a:solidFill>
                  <a:srgbClr val="526277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0B4B46-F8DC-4A65-91D9-C1F80476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43A"/>
                </a:solidFill>
              </a:defRPr>
            </a:defPPr>
            <a:lvl1pPr>
              <a:defRPr sz="2100" b="0">
                <a:solidFill>
                  <a:srgbClr val="17243A"/>
                </a:solidFill>
              </a:defRPr>
            </a:lvl1pPr>
            <a:lvl2pPr>
              <a:defRPr sz="2100" b="0">
                <a:solidFill>
                  <a:srgbClr val="17243A"/>
                </a:solidFill>
              </a:defRPr>
            </a:lvl2pPr>
            <a:lvl3pPr>
              <a:defRPr sz="2100" b="0">
                <a:solidFill>
                  <a:srgbClr val="17243A"/>
                </a:solidFill>
              </a:defRPr>
            </a:lvl3pPr>
            <a:lvl4pPr>
              <a:defRPr sz="2100" b="0">
                <a:solidFill>
                  <a:srgbClr val="17243A"/>
                </a:solidFill>
              </a:defRPr>
            </a:lvl4pPr>
            <a:lvl5pPr>
              <a:defRPr sz="2100" b="0">
                <a:solidFill>
                  <a:srgbClr val="17243A"/>
                </a:solidFill>
              </a:defRPr>
            </a:lvl5pPr>
            <a:lvl6pPr>
              <a:defRPr sz="2100" b="0">
                <a:solidFill>
                  <a:srgbClr val="17243A"/>
                </a:solidFill>
              </a:defRPr>
            </a:lvl6pPr>
            <a:lvl7pPr>
              <a:defRPr sz="2100" b="0">
                <a:solidFill>
                  <a:srgbClr val="17243A"/>
                </a:solidFill>
              </a:defRPr>
            </a:lvl7pPr>
            <a:lvl8pPr>
              <a:defRPr sz="2100" b="0">
                <a:solidFill>
                  <a:srgbClr val="17243A"/>
                </a:solidFill>
              </a:defRPr>
            </a:lvl8pPr>
            <a:lvl9pPr>
              <a:defRPr sz="2100" b="0">
                <a:solidFill>
                  <a:srgbClr val="17243A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43A"/>
                </a:solidFill>
              </a:defRPr>
            </a:pPr>
            <a:r>
              <a:rPr sz="2100" b="0">
                <a:solidFill>
                  <a:srgbClr val="17243A"/>
                </a:solidFill>
              </a:rPr>
              <a:t>Goal: KB ⊨ O     Add N1 = ¬O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187CE-36F9-4BAC-B766-896A44E5EDEB}"/>
              </a:ext>
            </a:extLst>
          </p:cNvPr>
          <p:cNvGraphicFramePr/>
          <p:nvPr/>
        </p:nvGraphicFramePr>
        <p:xfrm>
          <a:off xmlns:a="http://schemas.openxmlformats.org/drawingml/2006/main" x="609600" y="2190750"/>
          <a:ext xmlns:a="http://schemas.openxmlformats.org/drawingml/2006/main" cx="1095375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3238500"/>
                <a:gridCol w="2190750"/>
                <a:gridCol w="4191000"/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01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Parents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01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Resolve 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01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01B35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R1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K1 + K2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S ∨ 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R2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R1 + N1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R3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K3 + K5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¬S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R4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R2 + R3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31FFD-CE6E-439F-AB12-29025E81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243A"/>
                </a:solidFill>
              </a:defRPr>
            </a:defPPr>
            <a:lvl1pPr>
              <a:defRPr sz="1950" b="0">
                <a:solidFill>
                  <a:srgbClr val="17243A"/>
                </a:solidFill>
              </a:defRPr>
            </a:lvl1pPr>
            <a:lvl2pPr>
              <a:defRPr sz="1950" b="0">
                <a:solidFill>
                  <a:srgbClr val="17243A"/>
                </a:solidFill>
              </a:defRPr>
            </a:lvl2pPr>
            <a:lvl3pPr>
              <a:defRPr sz="1950" b="0">
                <a:solidFill>
                  <a:srgbClr val="17243A"/>
                </a:solidFill>
              </a:defRPr>
            </a:lvl3pPr>
            <a:lvl4pPr>
              <a:defRPr sz="1950" b="0">
                <a:solidFill>
                  <a:srgbClr val="17243A"/>
                </a:solidFill>
              </a:defRPr>
            </a:lvl4pPr>
            <a:lvl5pPr>
              <a:defRPr sz="1950" b="0">
                <a:solidFill>
                  <a:srgbClr val="17243A"/>
                </a:solidFill>
              </a:defRPr>
            </a:lvl5pPr>
            <a:lvl6pPr>
              <a:defRPr sz="1950" b="0">
                <a:solidFill>
                  <a:srgbClr val="17243A"/>
                </a:solidFill>
              </a:defRPr>
            </a:lvl6pPr>
            <a:lvl7pPr>
              <a:defRPr sz="1950" b="0">
                <a:solidFill>
                  <a:srgbClr val="17243A"/>
                </a:solidFill>
              </a:defRPr>
            </a:lvl7pPr>
            <a:lvl8pPr>
              <a:defRPr sz="1950" b="0">
                <a:solidFill>
                  <a:srgbClr val="17243A"/>
                </a:solidFill>
              </a:defRPr>
            </a:lvl8pPr>
            <a:lvl9pPr>
              <a:defRPr sz="1950" b="0">
                <a:solidFill>
                  <a:srgbClr val="17243A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43A"/>
                </a:solidFill>
              </a:defRPr>
            </a:pPr>
            <a:r>
              <a:rPr sz="1950" b="0">
                <a:solidFill>
                  <a:srgbClr val="17243A"/>
                </a:solidFill>
              </a:rPr>
              <a:t>Assuming Omar did not take it forces Sara to be responsible.</a:t>
            </a:r>
          </a:p>
          <a:p xmlns:a="http://schemas.openxmlformats.org/drawingml/2006/main">
            <a:pPr>
              <a:defRPr sz="1950" b="0">
                <a:solidFill>
                  <a:srgbClr val="17243A"/>
                </a:solidFill>
              </a:defRPr>
            </a:pPr>
            <a:r>
              <a:rPr sz="1950" b="0">
                <a:solidFill>
                  <a:srgbClr val="17243A"/>
                </a:solidFill>
              </a:rPr>
              <a:t>The camera evidence gives ¬S, creating a contradiction.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63429-2057-4505-A4EC-5E136A51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7F97"/>
                </a:solidFill>
              </a:defRPr>
            </a:defPPr>
            <a:lvl1pPr>
              <a:defRPr sz="1650" b="1">
                <a:solidFill>
                  <a:srgbClr val="007F97"/>
                </a:solidFill>
              </a:defRPr>
            </a:lvl1pPr>
            <a:lvl2pPr>
              <a:defRPr sz="1650" b="1">
                <a:solidFill>
                  <a:srgbClr val="007F97"/>
                </a:solidFill>
              </a:defRPr>
            </a:lvl2pPr>
            <a:lvl3pPr>
              <a:defRPr sz="1650" b="1">
                <a:solidFill>
                  <a:srgbClr val="007F97"/>
                </a:solidFill>
              </a:defRPr>
            </a:lvl3pPr>
            <a:lvl4pPr>
              <a:defRPr sz="1650" b="1">
                <a:solidFill>
                  <a:srgbClr val="007F97"/>
                </a:solidFill>
              </a:defRPr>
            </a:lvl4pPr>
            <a:lvl5pPr>
              <a:defRPr sz="1650" b="1">
                <a:solidFill>
                  <a:srgbClr val="007F97"/>
                </a:solidFill>
              </a:defRPr>
            </a:lvl5pPr>
            <a:lvl6pPr>
              <a:defRPr sz="1650" b="1">
                <a:solidFill>
                  <a:srgbClr val="007F97"/>
                </a:solidFill>
              </a:defRPr>
            </a:lvl6pPr>
            <a:lvl7pPr>
              <a:defRPr sz="1650" b="1">
                <a:solidFill>
                  <a:srgbClr val="007F97"/>
                </a:solidFill>
              </a:defRPr>
            </a:lvl7pPr>
            <a:lvl8pPr>
              <a:defRPr sz="1650" b="1">
                <a:solidFill>
                  <a:srgbClr val="007F97"/>
                </a:solidFill>
              </a:defRPr>
            </a:lvl8pPr>
            <a:lvl9pPr>
              <a:defRPr sz="1650" b="1">
                <a:solidFill>
                  <a:srgbClr val="007F9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F97"/>
                </a:solidFill>
              </a:defRPr>
            </a:pPr>
            <a:r>
              <a:rPr sz="1650" b="1">
                <a:solidFill>
                  <a:srgbClr val="007F97"/>
                </a:solidFill>
              </a:rPr>
              <a:t>Therefore KB ⊨ O. The evidence proves Omar took the paper.</a:t>
            </a:r>
          </a:p>
        </p:txBody>
      </p:sp>
    </p:spTree>
    <p:extLst>
      <p:ext uri="{BB962C8B-B14F-4D97-AF65-F5344CB8AC3E}">
        <p14:creationId xmlns:p14="http://schemas.microsoft.com/office/powerpoint/2010/main" val="6482887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ACC95-1A36-40A5-8889-4798E7CB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F97"/>
                </a:solidFill>
              </a:defRPr>
            </a:defPPr>
            <a:lvl1pPr>
              <a:defRPr sz="1275" b="1">
                <a:solidFill>
                  <a:srgbClr val="007F97"/>
                </a:solidFill>
              </a:defRPr>
            </a:lvl1pPr>
            <a:lvl2pPr>
              <a:defRPr sz="1275" b="1">
                <a:solidFill>
                  <a:srgbClr val="007F97"/>
                </a:solidFill>
              </a:defRPr>
            </a:lvl2pPr>
            <a:lvl3pPr>
              <a:defRPr sz="1275" b="1">
                <a:solidFill>
                  <a:srgbClr val="007F97"/>
                </a:solidFill>
              </a:defRPr>
            </a:lvl3pPr>
            <a:lvl4pPr>
              <a:defRPr sz="1275" b="1">
                <a:solidFill>
                  <a:srgbClr val="007F97"/>
                </a:solidFill>
              </a:defRPr>
            </a:lvl4pPr>
            <a:lvl5pPr>
              <a:defRPr sz="1275" b="1">
                <a:solidFill>
                  <a:srgbClr val="007F97"/>
                </a:solidFill>
              </a:defRPr>
            </a:lvl5pPr>
            <a:lvl6pPr>
              <a:defRPr sz="1275" b="1">
                <a:solidFill>
                  <a:srgbClr val="007F97"/>
                </a:solidFill>
              </a:defRPr>
            </a:lvl6pPr>
            <a:lvl7pPr>
              <a:defRPr sz="1275" b="1">
                <a:solidFill>
                  <a:srgbClr val="007F97"/>
                </a:solidFill>
              </a:defRPr>
            </a:lvl7pPr>
            <a:lvl8pPr>
              <a:defRPr sz="1275" b="1">
                <a:solidFill>
                  <a:srgbClr val="007F97"/>
                </a:solidFill>
              </a:defRPr>
            </a:lvl8pPr>
            <a:lvl9pPr>
              <a:defRPr sz="1275" b="1">
                <a:solidFill>
                  <a:srgbClr val="007F97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F97"/>
                </a:solidFill>
              </a:defRPr>
            </a:pPr>
            <a:r>
              <a:rPr sz="1275" b="1">
                <a:solidFill>
                  <a:srgbClr val="007F97"/>
                </a:solidFill>
              </a:rPr>
              <a:t>LEVEL 03B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3082D-6640-40B9-9EEF-2330957D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1B35"/>
                </a:solidFill>
              </a:defRPr>
            </a:defPPr>
            <a:lvl1pPr>
              <a:defRPr sz="3150" b="1">
                <a:solidFill>
                  <a:srgbClr val="101B35"/>
                </a:solidFill>
              </a:defRPr>
            </a:lvl1pPr>
            <a:lvl2pPr>
              <a:defRPr sz="3150" b="1">
                <a:solidFill>
                  <a:srgbClr val="101B35"/>
                </a:solidFill>
              </a:defRPr>
            </a:lvl2pPr>
            <a:lvl3pPr>
              <a:defRPr sz="3150" b="1">
                <a:solidFill>
                  <a:srgbClr val="101B35"/>
                </a:solidFill>
              </a:defRPr>
            </a:lvl3pPr>
            <a:lvl4pPr>
              <a:defRPr sz="3150" b="1">
                <a:solidFill>
                  <a:srgbClr val="101B35"/>
                </a:solidFill>
              </a:defRPr>
            </a:lvl4pPr>
            <a:lvl5pPr>
              <a:defRPr sz="3150" b="1">
                <a:solidFill>
                  <a:srgbClr val="101B35"/>
                </a:solidFill>
              </a:defRPr>
            </a:lvl5pPr>
            <a:lvl6pPr>
              <a:defRPr sz="3150" b="1">
                <a:solidFill>
                  <a:srgbClr val="101B35"/>
                </a:solidFill>
              </a:defRPr>
            </a:lvl6pPr>
            <a:lvl7pPr>
              <a:defRPr sz="3150" b="1">
                <a:solidFill>
                  <a:srgbClr val="101B35"/>
                </a:solidFill>
              </a:defRPr>
            </a:lvl7pPr>
            <a:lvl8pPr>
              <a:defRPr sz="3150" b="1">
                <a:solidFill>
                  <a:srgbClr val="101B35"/>
                </a:solidFill>
              </a:defRPr>
            </a:lvl8pPr>
            <a:lvl9pPr>
              <a:defRPr sz="3150" b="1">
                <a:solidFill>
                  <a:srgbClr val="101B35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1B35"/>
                </a:solidFill>
              </a:defRPr>
            </a:pPr>
            <a:r>
              <a:rPr sz="3150" b="1">
                <a:solidFill>
                  <a:srgbClr val="101B35"/>
                </a:solidFill>
              </a:rPr>
              <a:t>Sara did not take the paper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67E73-BEAE-4075-93F8-F1ADD5DD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7"/>
                </a:solidFill>
              </a:defRPr>
            </a:defPPr>
            <a:lvl1pPr>
              <a:defRPr sz="1200" b="0">
                <a:solidFill>
                  <a:srgbClr val="526277"/>
                </a:solidFill>
              </a:defRPr>
            </a:lvl1pPr>
            <a:lvl2pPr>
              <a:defRPr sz="1200" b="0">
                <a:solidFill>
                  <a:srgbClr val="526277"/>
                </a:solidFill>
              </a:defRPr>
            </a:lvl2pPr>
            <a:lvl3pPr>
              <a:defRPr sz="1200" b="0">
                <a:solidFill>
                  <a:srgbClr val="526277"/>
                </a:solidFill>
              </a:defRPr>
            </a:lvl3pPr>
            <a:lvl4pPr>
              <a:defRPr sz="1200" b="0">
                <a:solidFill>
                  <a:srgbClr val="526277"/>
                </a:solidFill>
              </a:defRPr>
            </a:lvl4pPr>
            <a:lvl5pPr>
              <a:defRPr sz="1200" b="0">
                <a:solidFill>
                  <a:srgbClr val="526277"/>
                </a:solidFill>
              </a:defRPr>
            </a:lvl5pPr>
            <a:lvl6pPr>
              <a:defRPr sz="1200" b="0">
                <a:solidFill>
                  <a:srgbClr val="526277"/>
                </a:solidFill>
              </a:defRPr>
            </a:lvl6pPr>
            <a:lvl7pPr>
              <a:defRPr sz="1200" b="0">
                <a:solidFill>
                  <a:srgbClr val="526277"/>
                </a:solidFill>
              </a:defRPr>
            </a:lvl7pPr>
            <a:lvl8pPr>
              <a:defRPr sz="1200" b="0">
                <a:solidFill>
                  <a:srgbClr val="526277"/>
                </a:solidFill>
              </a:defRPr>
            </a:lvl8pPr>
            <a:lvl9pPr>
              <a:defRPr sz="1200" b="0">
                <a:solidFill>
                  <a:srgbClr val="52627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277"/>
                </a:solidFill>
              </a:defRPr>
            </a:pPr>
            <a:r>
              <a:rPr sz="1200" b="0">
                <a:solidFill>
                  <a:srgbClr val="526277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56674-CFFB-4E0F-B9E4-9125DCBA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43A"/>
                </a:solidFill>
              </a:defRPr>
            </a:defPPr>
            <a:lvl1pPr>
              <a:defRPr sz="2100" b="0">
                <a:solidFill>
                  <a:srgbClr val="17243A"/>
                </a:solidFill>
              </a:defRPr>
            </a:lvl1pPr>
            <a:lvl2pPr>
              <a:defRPr sz="2100" b="0">
                <a:solidFill>
                  <a:srgbClr val="17243A"/>
                </a:solidFill>
              </a:defRPr>
            </a:lvl2pPr>
            <a:lvl3pPr>
              <a:defRPr sz="2100" b="0">
                <a:solidFill>
                  <a:srgbClr val="17243A"/>
                </a:solidFill>
              </a:defRPr>
            </a:lvl3pPr>
            <a:lvl4pPr>
              <a:defRPr sz="2100" b="0">
                <a:solidFill>
                  <a:srgbClr val="17243A"/>
                </a:solidFill>
              </a:defRPr>
            </a:lvl4pPr>
            <a:lvl5pPr>
              <a:defRPr sz="2100" b="0">
                <a:solidFill>
                  <a:srgbClr val="17243A"/>
                </a:solidFill>
              </a:defRPr>
            </a:lvl5pPr>
            <a:lvl6pPr>
              <a:defRPr sz="2100" b="0">
                <a:solidFill>
                  <a:srgbClr val="17243A"/>
                </a:solidFill>
              </a:defRPr>
            </a:lvl6pPr>
            <a:lvl7pPr>
              <a:defRPr sz="2100" b="0">
                <a:solidFill>
                  <a:srgbClr val="17243A"/>
                </a:solidFill>
              </a:defRPr>
            </a:lvl7pPr>
            <a:lvl8pPr>
              <a:defRPr sz="2100" b="0">
                <a:solidFill>
                  <a:srgbClr val="17243A"/>
                </a:solidFill>
              </a:defRPr>
            </a:lvl8pPr>
            <a:lvl9pPr>
              <a:defRPr sz="2100" b="0">
                <a:solidFill>
                  <a:srgbClr val="17243A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43A"/>
                </a:solidFill>
              </a:defRPr>
            </a:pPr>
            <a:r>
              <a:rPr sz="2100" b="0">
                <a:solidFill>
                  <a:srgbClr val="17243A"/>
                </a:solidFill>
              </a:rPr>
              <a:t>Goal: KB ⊨ ¬S     Add N2 = S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C44B5-E6DB-4027-9FDF-8B1029E32F12}"/>
              </a:ext>
            </a:extLst>
          </p:cNvPr>
          <p:cNvGraphicFramePr/>
          <p:nvPr/>
        </p:nvGraphicFramePr>
        <p:xfrm>
          <a:off xmlns:a="http://schemas.openxmlformats.org/drawingml/2006/main" x="609600" y="2324100"/>
          <a:ext xmlns:a="http://schemas.openxmlformats.org/drawingml/2006/main" cx="1095375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3238500"/>
                <a:gridCol w="2190750"/>
                <a:gridCol w="4191000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01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Parents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01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Resolve 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01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01B3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R1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K3 + N2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R2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R1 + K5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B9C28-FC48-4F84-BE8A-37C65AA5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43A"/>
                </a:solidFill>
              </a:defRPr>
            </a:defPPr>
            <a:lvl1pPr>
              <a:defRPr sz="2175" b="0">
                <a:solidFill>
                  <a:srgbClr val="17243A"/>
                </a:solidFill>
              </a:defRPr>
            </a:lvl1pPr>
            <a:lvl2pPr>
              <a:defRPr sz="2175" b="0">
                <a:solidFill>
                  <a:srgbClr val="17243A"/>
                </a:solidFill>
              </a:defRPr>
            </a:lvl2pPr>
            <a:lvl3pPr>
              <a:defRPr sz="2175" b="0">
                <a:solidFill>
                  <a:srgbClr val="17243A"/>
                </a:solidFill>
              </a:defRPr>
            </a:lvl3pPr>
            <a:lvl4pPr>
              <a:defRPr sz="2175" b="0">
                <a:solidFill>
                  <a:srgbClr val="17243A"/>
                </a:solidFill>
              </a:defRPr>
            </a:lvl4pPr>
            <a:lvl5pPr>
              <a:defRPr sz="2175" b="0">
                <a:solidFill>
                  <a:srgbClr val="17243A"/>
                </a:solidFill>
              </a:defRPr>
            </a:lvl5pPr>
            <a:lvl6pPr>
              <a:defRPr sz="2175" b="0">
                <a:solidFill>
                  <a:srgbClr val="17243A"/>
                </a:solidFill>
              </a:defRPr>
            </a:lvl6pPr>
            <a:lvl7pPr>
              <a:defRPr sz="2175" b="0">
                <a:solidFill>
                  <a:srgbClr val="17243A"/>
                </a:solidFill>
              </a:defRPr>
            </a:lvl7pPr>
            <a:lvl8pPr>
              <a:defRPr sz="2175" b="0">
                <a:solidFill>
                  <a:srgbClr val="17243A"/>
                </a:solidFill>
              </a:defRPr>
            </a:lvl8pPr>
            <a:lvl9pPr>
              <a:defRPr sz="2175" b="0">
                <a:solidFill>
                  <a:srgbClr val="17243A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43A"/>
                </a:solidFill>
              </a:defRPr>
            </a:pPr>
            <a:r>
              <a:rPr sz="2175" b="0">
                <a:solidFill>
                  <a:srgbClr val="17243A"/>
                </a:solidFill>
              </a:rPr>
              <a:t>If Sara took the paper, the camera would have been off.</a:t>
            </a:r>
          </a:p>
          <a:p xmlns:a="http://schemas.openxmlformats.org/drawingml/2006/main">
            <a:pPr>
              <a:defRPr sz="2175" b="0">
                <a:solidFill>
                  <a:srgbClr val="17243A"/>
                </a:solidFill>
              </a:defRPr>
            </a:pPr>
            <a:r>
              <a:rPr sz="2175" b="0">
                <a:solidFill>
                  <a:srgbClr val="17243A"/>
                </a:solidFill>
              </a:rPr>
              <a:t>The camera recorded all night, so C contradicts ¬C.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F97C2-A7C3-4EB4-8615-E4CD08BD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7F97"/>
                </a:solidFill>
              </a:defRPr>
            </a:defPPr>
            <a:lvl1pPr>
              <a:defRPr sz="1650" b="1">
                <a:solidFill>
                  <a:srgbClr val="007F97"/>
                </a:solidFill>
              </a:defRPr>
            </a:lvl1pPr>
            <a:lvl2pPr>
              <a:defRPr sz="1650" b="1">
                <a:solidFill>
                  <a:srgbClr val="007F97"/>
                </a:solidFill>
              </a:defRPr>
            </a:lvl2pPr>
            <a:lvl3pPr>
              <a:defRPr sz="1650" b="1">
                <a:solidFill>
                  <a:srgbClr val="007F97"/>
                </a:solidFill>
              </a:defRPr>
            </a:lvl3pPr>
            <a:lvl4pPr>
              <a:defRPr sz="1650" b="1">
                <a:solidFill>
                  <a:srgbClr val="007F97"/>
                </a:solidFill>
              </a:defRPr>
            </a:lvl4pPr>
            <a:lvl5pPr>
              <a:defRPr sz="1650" b="1">
                <a:solidFill>
                  <a:srgbClr val="007F97"/>
                </a:solidFill>
              </a:defRPr>
            </a:lvl5pPr>
            <a:lvl6pPr>
              <a:defRPr sz="1650" b="1">
                <a:solidFill>
                  <a:srgbClr val="007F97"/>
                </a:solidFill>
              </a:defRPr>
            </a:lvl6pPr>
            <a:lvl7pPr>
              <a:defRPr sz="1650" b="1">
                <a:solidFill>
                  <a:srgbClr val="007F97"/>
                </a:solidFill>
              </a:defRPr>
            </a:lvl7pPr>
            <a:lvl8pPr>
              <a:defRPr sz="1650" b="1">
                <a:solidFill>
                  <a:srgbClr val="007F97"/>
                </a:solidFill>
              </a:defRPr>
            </a:lvl8pPr>
            <a:lvl9pPr>
              <a:defRPr sz="1650" b="1">
                <a:solidFill>
                  <a:srgbClr val="007F9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F97"/>
                </a:solidFill>
              </a:defRPr>
            </a:pPr>
            <a:r>
              <a:rPr sz="1650" b="1">
                <a:solidFill>
                  <a:srgbClr val="007F97"/>
                </a:solidFill>
              </a:rPr>
              <a:t>Therefore KB ⊨ ¬S. Sara is innocent of taking the paper.</a:t>
            </a:r>
          </a:p>
        </p:txBody>
      </p:sp>
    </p:spTree>
    <p:extLst>
      <p:ext uri="{BB962C8B-B14F-4D97-AF65-F5344CB8AC3E}">
        <p14:creationId xmlns:p14="http://schemas.microsoft.com/office/powerpoint/2010/main" val="19884956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DB8FD-50D8-49EA-BEEF-D61E6D35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F97"/>
                </a:solidFill>
              </a:defRPr>
            </a:defPPr>
            <a:lvl1pPr>
              <a:defRPr sz="1275" b="1">
                <a:solidFill>
                  <a:srgbClr val="007F97"/>
                </a:solidFill>
              </a:defRPr>
            </a:lvl1pPr>
            <a:lvl2pPr>
              <a:defRPr sz="1275" b="1">
                <a:solidFill>
                  <a:srgbClr val="007F97"/>
                </a:solidFill>
              </a:defRPr>
            </a:lvl2pPr>
            <a:lvl3pPr>
              <a:defRPr sz="1275" b="1">
                <a:solidFill>
                  <a:srgbClr val="007F97"/>
                </a:solidFill>
              </a:defRPr>
            </a:lvl3pPr>
            <a:lvl4pPr>
              <a:defRPr sz="1275" b="1">
                <a:solidFill>
                  <a:srgbClr val="007F97"/>
                </a:solidFill>
              </a:defRPr>
            </a:lvl4pPr>
            <a:lvl5pPr>
              <a:defRPr sz="1275" b="1">
                <a:solidFill>
                  <a:srgbClr val="007F97"/>
                </a:solidFill>
              </a:defRPr>
            </a:lvl5pPr>
            <a:lvl6pPr>
              <a:defRPr sz="1275" b="1">
                <a:solidFill>
                  <a:srgbClr val="007F97"/>
                </a:solidFill>
              </a:defRPr>
            </a:lvl6pPr>
            <a:lvl7pPr>
              <a:defRPr sz="1275" b="1">
                <a:solidFill>
                  <a:srgbClr val="007F97"/>
                </a:solidFill>
              </a:defRPr>
            </a:lvl7pPr>
            <a:lvl8pPr>
              <a:defRPr sz="1275" b="1">
                <a:solidFill>
                  <a:srgbClr val="007F97"/>
                </a:solidFill>
              </a:defRPr>
            </a:lvl8pPr>
            <a:lvl9pPr>
              <a:defRPr sz="1275" b="1">
                <a:solidFill>
                  <a:srgbClr val="007F97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F97"/>
                </a:solidFill>
              </a:defRPr>
            </a:pPr>
            <a:r>
              <a:rPr sz="1275" b="1">
                <a:solidFill>
                  <a:srgbClr val="007F97"/>
                </a:solidFill>
              </a:rPr>
              <a:t>LEVEL 03C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CFB03-2DDB-46E2-8F75-8F60DE20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1B35"/>
                </a:solidFill>
              </a:defRPr>
            </a:defPPr>
            <a:lvl1pPr>
              <a:defRPr sz="3150" b="1">
                <a:solidFill>
                  <a:srgbClr val="101B35"/>
                </a:solidFill>
              </a:defRPr>
            </a:lvl1pPr>
            <a:lvl2pPr>
              <a:defRPr sz="3150" b="1">
                <a:solidFill>
                  <a:srgbClr val="101B35"/>
                </a:solidFill>
              </a:defRPr>
            </a:lvl2pPr>
            <a:lvl3pPr>
              <a:defRPr sz="3150" b="1">
                <a:solidFill>
                  <a:srgbClr val="101B35"/>
                </a:solidFill>
              </a:defRPr>
            </a:lvl3pPr>
            <a:lvl4pPr>
              <a:defRPr sz="3150" b="1">
                <a:solidFill>
                  <a:srgbClr val="101B35"/>
                </a:solidFill>
              </a:defRPr>
            </a:lvl4pPr>
            <a:lvl5pPr>
              <a:defRPr sz="3150" b="1">
                <a:solidFill>
                  <a:srgbClr val="101B35"/>
                </a:solidFill>
              </a:defRPr>
            </a:lvl5pPr>
            <a:lvl6pPr>
              <a:defRPr sz="3150" b="1">
                <a:solidFill>
                  <a:srgbClr val="101B35"/>
                </a:solidFill>
              </a:defRPr>
            </a:lvl6pPr>
            <a:lvl7pPr>
              <a:defRPr sz="3150" b="1">
                <a:solidFill>
                  <a:srgbClr val="101B35"/>
                </a:solidFill>
              </a:defRPr>
            </a:lvl7pPr>
            <a:lvl8pPr>
              <a:defRPr sz="3150" b="1">
                <a:solidFill>
                  <a:srgbClr val="101B35"/>
                </a:solidFill>
              </a:defRPr>
            </a:lvl8pPr>
            <a:lvl9pPr>
              <a:defRPr sz="3150" b="1">
                <a:solidFill>
                  <a:srgbClr val="101B35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1B35"/>
                </a:solidFill>
              </a:defRPr>
            </a:pPr>
            <a:r>
              <a:rPr sz="3150" b="1">
                <a:solidFill>
                  <a:srgbClr val="101B35"/>
                </a:solidFill>
              </a:rPr>
              <a:t>Lina’s involvement remains unknown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A6E5C-F87C-4122-8535-AA8BC430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7"/>
                </a:solidFill>
              </a:defRPr>
            </a:defPPr>
            <a:lvl1pPr>
              <a:defRPr sz="1200" b="0">
                <a:solidFill>
                  <a:srgbClr val="526277"/>
                </a:solidFill>
              </a:defRPr>
            </a:lvl1pPr>
            <a:lvl2pPr>
              <a:defRPr sz="1200" b="0">
                <a:solidFill>
                  <a:srgbClr val="526277"/>
                </a:solidFill>
              </a:defRPr>
            </a:lvl2pPr>
            <a:lvl3pPr>
              <a:defRPr sz="1200" b="0">
                <a:solidFill>
                  <a:srgbClr val="526277"/>
                </a:solidFill>
              </a:defRPr>
            </a:lvl3pPr>
            <a:lvl4pPr>
              <a:defRPr sz="1200" b="0">
                <a:solidFill>
                  <a:srgbClr val="526277"/>
                </a:solidFill>
              </a:defRPr>
            </a:lvl4pPr>
            <a:lvl5pPr>
              <a:defRPr sz="1200" b="0">
                <a:solidFill>
                  <a:srgbClr val="526277"/>
                </a:solidFill>
              </a:defRPr>
            </a:lvl5pPr>
            <a:lvl6pPr>
              <a:defRPr sz="1200" b="0">
                <a:solidFill>
                  <a:srgbClr val="526277"/>
                </a:solidFill>
              </a:defRPr>
            </a:lvl6pPr>
            <a:lvl7pPr>
              <a:defRPr sz="1200" b="0">
                <a:solidFill>
                  <a:srgbClr val="526277"/>
                </a:solidFill>
              </a:defRPr>
            </a:lvl7pPr>
            <a:lvl8pPr>
              <a:defRPr sz="1200" b="0">
                <a:solidFill>
                  <a:srgbClr val="526277"/>
                </a:solidFill>
              </a:defRPr>
            </a:lvl8pPr>
            <a:lvl9pPr>
              <a:defRPr sz="1200" b="0">
                <a:solidFill>
                  <a:srgbClr val="52627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277"/>
                </a:solidFill>
              </a:defRPr>
            </a:pPr>
            <a:r>
              <a:rPr sz="1200" b="0">
                <a:solidFill>
                  <a:srgbClr val="526277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920A9-DD4C-47EE-A766-592609B6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43A"/>
                </a:solidFill>
              </a:defRPr>
            </a:defPPr>
            <a:lvl1pPr>
              <a:defRPr sz="1875" b="0">
                <a:solidFill>
                  <a:srgbClr val="17243A"/>
                </a:solidFill>
              </a:defRPr>
            </a:lvl1pPr>
            <a:lvl2pPr>
              <a:defRPr sz="1875" b="0">
                <a:solidFill>
                  <a:srgbClr val="17243A"/>
                </a:solidFill>
              </a:defRPr>
            </a:lvl2pPr>
            <a:lvl3pPr>
              <a:defRPr sz="1875" b="0">
                <a:solidFill>
                  <a:srgbClr val="17243A"/>
                </a:solidFill>
              </a:defRPr>
            </a:lvl3pPr>
            <a:lvl4pPr>
              <a:defRPr sz="1875" b="0">
                <a:solidFill>
                  <a:srgbClr val="17243A"/>
                </a:solidFill>
              </a:defRPr>
            </a:lvl4pPr>
            <a:lvl5pPr>
              <a:defRPr sz="1875" b="0">
                <a:solidFill>
                  <a:srgbClr val="17243A"/>
                </a:solidFill>
              </a:defRPr>
            </a:lvl5pPr>
            <a:lvl6pPr>
              <a:defRPr sz="1875" b="0">
                <a:solidFill>
                  <a:srgbClr val="17243A"/>
                </a:solidFill>
              </a:defRPr>
            </a:lvl6pPr>
            <a:lvl7pPr>
              <a:defRPr sz="1875" b="0">
                <a:solidFill>
                  <a:srgbClr val="17243A"/>
                </a:solidFill>
              </a:defRPr>
            </a:lvl7pPr>
            <a:lvl8pPr>
              <a:defRPr sz="1875" b="0">
                <a:solidFill>
                  <a:srgbClr val="17243A"/>
                </a:solidFill>
              </a:defRPr>
            </a:lvl8pPr>
            <a:lvl9pPr>
              <a:defRPr sz="1875" b="0">
                <a:solidFill>
                  <a:srgbClr val="1724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43A"/>
                </a:solidFill>
              </a:defRPr>
            </a:pPr>
            <a:r>
              <a:rPr sz="1875" b="0">
                <a:solidFill>
                  <a:srgbClr val="17243A"/>
                </a:solidFill>
              </a:rPr>
              <a:t>Try proving L: add ¬L.</a:t>
            </a:r>
          </a:p>
          <a:p xmlns:a="http://schemas.openxmlformats.org/drawingml/2006/main">
            <a:pPr>
              <a:defRPr sz="1875" b="0">
                <a:solidFill>
                  <a:srgbClr val="17243A"/>
                </a:solidFill>
              </a:defRPr>
            </a:pPr>
            <a:r>
              <a:rPr sz="1875" b="0">
                <a:solidFill>
                  <a:srgbClr val="17243A"/>
                </a:solidFill>
              </a:rPr>
              <a:t>There is no positive L in the KB to resolve with the assumption.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B7BF1-1FC1-4D20-8E41-3397A876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43A"/>
                </a:solidFill>
              </a:defRPr>
            </a:defPPr>
            <a:lvl1pPr>
              <a:defRPr sz="1875" b="0">
                <a:solidFill>
                  <a:srgbClr val="17243A"/>
                </a:solidFill>
              </a:defRPr>
            </a:lvl1pPr>
            <a:lvl2pPr>
              <a:defRPr sz="1875" b="0">
                <a:solidFill>
                  <a:srgbClr val="17243A"/>
                </a:solidFill>
              </a:defRPr>
            </a:lvl2pPr>
            <a:lvl3pPr>
              <a:defRPr sz="1875" b="0">
                <a:solidFill>
                  <a:srgbClr val="17243A"/>
                </a:solidFill>
              </a:defRPr>
            </a:lvl3pPr>
            <a:lvl4pPr>
              <a:defRPr sz="1875" b="0">
                <a:solidFill>
                  <a:srgbClr val="17243A"/>
                </a:solidFill>
              </a:defRPr>
            </a:lvl4pPr>
            <a:lvl5pPr>
              <a:defRPr sz="1875" b="0">
                <a:solidFill>
                  <a:srgbClr val="17243A"/>
                </a:solidFill>
              </a:defRPr>
            </a:lvl5pPr>
            <a:lvl6pPr>
              <a:defRPr sz="1875" b="0">
                <a:solidFill>
                  <a:srgbClr val="17243A"/>
                </a:solidFill>
              </a:defRPr>
            </a:lvl6pPr>
            <a:lvl7pPr>
              <a:defRPr sz="1875" b="0">
                <a:solidFill>
                  <a:srgbClr val="17243A"/>
                </a:solidFill>
              </a:defRPr>
            </a:lvl7pPr>
            <a:lvl8pPr>
              <a:defRPr sz="1875" b="0">
                <a:solidFill>
                  <a:srgbClr val="17243A"/>
                </a:solidFill>
              </a:defRPr>
            </a:lvl8pPr>
            <a:lvl9pPr>
              <a:defRPr sz="1875" b="0">
                <a:solidFill>
                  <a:srgbClr val="1724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43A"/>
                </a:solidFill>
              </a:defRPr>
            </a:pPr>
            <a:r>
              <a:rPr sz="1875" b="0">
                <a:solidFill>
                  <a:srgbClr val="17243A"/>
                </a:solidFill>
              </a:rPr>
              <a:t>Try proving ¬L: add L.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38113-F0B8-4BC2-8E76-84A212131A93}"/>
              </a:ext>
            </a:extLst>
          </p:cNvPr>
          <p:cNvGraphicFramePr/>
          <p:nvPr/>
        </p:nvGraphicFramePr>
        <p:xfrm>
          <a:off xmlns:a="http://schemas.openxmlformats.org/drawingml/2006/main" x="609600" y="2943225"/>
          <a:ext xmlns:a="http://schemas.openxmlformats.org/drawingml/2006/main" cx="10953750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3238500"/>
                <a:gridCol w="2190750"/>
                <a:gridCol w="4191000"/>
              </a:tblGrid>
              <a:tr h="447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01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Parents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01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Resolve 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01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01B35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R1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K6 + 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R2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R1 + K7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R3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R2 + K9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¬A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R4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R2 + K8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Y (already known)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50ED9-5965-43EE-9D93-A43293EA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243A"/>
                </a:solidFill>
              </a:defRPr>
            </a:defPPr>
            <a:lvl1pPr>
              <a:defRPr sz="1800" b="0">
                <a:solidFill>
                  <a:srgbClr val="17243A"/>
                </a:solidFill>
              </a:defRPr>
            </a:lvl1pPr>
            <a:lvl2pPr>
              <a:defRPr sz="1800" b="0">
                <a:solidFill>
                  <a:srgbClr val="17243A"/>
                </a:solidFill>
              </a:defRPr>
            </a:lvl2pPr>
            <a:lvl3pPr>
              <a:defRPr sz="1800" b="0">
                <a:solidFill>
                  <a:srgbClr val="17243A"/>
                </a:solidFill>
              </a:defRPr>
            </a:lvl3pPr>
            <a:lvl4pPr>
              <a:defRPr sz="1800" b="0">
                <a:solidFill>
                  <a:srgbClr val="17243A"/>
                </a:solidFill>
              </a:defRPr>
            </a:lvl4pPr>
            <a:lvl5pPr>
              <a:defRPr sz="1800" b="0">
                <a:solidFill>
                  <a:srgbClr val="17243A"/>
                </a:solidFill>
              </a:defRPr>
            </a:lvl5pPr>
            <a:lvl6pPr>
              <a:defRPr sz="1800" b="0">
                <a:solidFill>
                  <a:srgbClr val="17243A"/>
                </a:solidFill>
              </a:defRPr>
            </a:lvl6pPr>
            <a:lvl7pPr>
              <a:defRPr sz="1800" b="0">
                <a:solidFill>
                  <a:srgbClr val="17243A"/>
                </a:solidFill>
              </a:defRPr>
            </a:lvl7pPr>
            <a:lvl8pPr>
              <a:defRPr sz="1800" b="0">
                <a:solidFill>
                  <a:srgbClr val="17243A"/>
                </a:solidFill>
              </a:defRPr>
            </a:lvl8pPr>
            <a:lvl9pPr>
              <a:defRPr sz="1800" b="0">
                <a:solidFill>
                  <a:srgbClr val="1724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43A"/>
                </a:solidFill>
              </a:defRPr>
            </a:pPr>
            <a:r>
              <a:rPr sz="1800" b="0">
                <a:solidFill>
                  <a:srgbClr val="17243A"/>
                </a:solidFill>
              </a:rPr>
              <a:t>Neither assumption creates a contradiction. The clues allow both possibilities.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A2A10-6E33-4423-8776-1362C83C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7F97"/>
                </a:solidFill>
              </a:defRPr>
            </a:defPPr>
            <a:lvl1pPr>
              <a:defRPr sz="1650" b="1">
                <a:solidFill>
                  <a:srgbClr val="007F97"/>
                </a:solidFill>
              </a:defRPr>
            </a:lvl1pPr>
            <a:lvl2pPr>
              <a:defRPr sz="1650" b="1">
                <a:solidFill>
                  <a:srgbClr val="007F97"/>
                </a:solidFill>
              </a:defRPr>
            </a:lvl2pPr>
            <a:lvl3pPr>
              <a:defRPr sz="1650" b="1">
                <a:solidFill>
                  <a:srgbClr val="007F97"/>
                </a:solidFill>
              </a:defRPr>
            </a:lvl3pPr>
            <a:lvl4pPr>
              <a:defRPr sz="1650" b="1">
                <a:solidFill>
                  <a:srgbClr val="007F97"/>
                </a:solidFill>
              </a:defRPr>
            </a:lvl4pPr>
            <a:lvl5pPr>
              <a:defRPr sz="1650" b="1">
                <a:solidFill>
                  <a:srgbClr val="007F97"/>
                </a:solidFill>
              </a:defRPr>
            </a:lvl5pPr>
            <a:lvl6pPr>
              <a:defRPr sz="1650" b="1">
                <a:solidFill>
                  <a:srgbClr val="007F97"/>
                </a:solidFill>
              </a:defRPr>
            </a:lvl6pPr>
            <a:lvl7pPr>
              <a:defRPr sz="1650" b="1">
                <a:solidFill>
                  <a:srgbClr val="007F97"/>
                </a:solidFill>
              </a:defRPr>
            </a:lvl7pPr>
            <a:lvl8pPr>
              <a:defRPr sz="1650" b="1">
                <a:solidFill>
                  <a:srgbClr val="007F97"/>
                </a:solidFill>
              </a:defRPr>
            </a:lvl8pPr>
            <a:lvl9pPr>
              <a:defRPr sz="1650" b="1">
                <a:solidFill>
                  <a:srgbClr val="007F9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F97"/>
                </a:solidFill>
              </a:defRPr>
            </a:pPr>
            <a:r>
              <a:rPr sz="1650" b="1">
                <a:solidFill>
                  <a:srgbClr val="007F97"/>
                </a:solidFill>
              </a:rPr>
              <a:t>KB ⊭ L and KB ⊭ ¬L. We cannot accuse or clear Lina.</a:t>
            </a:r>
          </a:p>
        </p:txBody>
      </p:sp>
    </p:spTree>
    <p:extLst>
      <p:ext uri="{BB962C8B-B14F-4D97-AF65-F5344CB8AC3E}">
        <p14:creationId xmlns:p14="http://schemas.microsoft.com/office/powerpoint/2010/main" val="851339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6606E-D642-48FA-8578-A03D03A5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F97"/>
                </a:solidFill>
              </a:defRPr>
            </a:defPPr>
            <a:lvl1pPr>
              <a:defRPr sz="1275" b="1">
                <a:solidFill>
                  <a:srgbClr val="007F97"/>
                </a:solidFill>
              </a:defRPr>
            </a:lvl1pPr>
            <a:lvl2pPr>
              <a:defRPr sz="1275" b="1">
                <a:solidFill>
                  <a:srgbClr val="007F97"/>
                </a:solidFill>
              </a:defRPr>
            </a:lvl2pPr>
            <a:lvl3pPr>
              <a:defRPr sz="1275" b="1">
                <a:solidFill>
                  <a:srgbClr val="007F97"/>
                </a:solidFill>
              </a:defRPr>
            </a:lvl3pPr>
            <a:lvl4pPr>
              <a:defRPr sz="1275" b="1">
                <a:solidFill>
                  <a:srgbClr val="007F97"/>
                </a:solidFill>
              </a:defRPr>
            </a:lvl4pPr>
            <a:lvl5pPr>
              <a:defRPr sz="1275" b="1">
                <a:solidFill>
                  <a:srgbClr val="007F97"/>
                </a:solidFill>
              </a:defRPr>
            </a:lvl5pPr>
            <a:lvl6pPr>
              <a:defRPr sz="1275" b="1">
                <a:solidFill>
                  <a:srgbClr val="007F97"/>
                </a:solidFill>
              </a:defRPr>
            </a:lvl6pPr>
            <a:lvl7pPr>
              <a:defRPr sz="1275" b="1">
                <a:solidFill>
                  <a:srgbClr val="007F97"/>
                </a:solidFill>
              </a:defRPr>
            </a:lvl7pPr>
            <a:lvl8pPr>
              <a:defRPr sz="1275" b="1">
                <a:solidFill>
                  <a:srgbClr val="007F97"/>
                </a:solidFill>
              </a:defRPr>
            </a:lvl8pPr>
            <a:lvl9pPr>
              <a:defRPr sz="1275" b="1">
                <a:solidFill>
                  <a:srgbClr val="007F97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F97"/>
                </a:solidFill>
              </a:defRPr>
            </a:pPr>
            <a:r>
              <a:rPr sz="1275" b="1">
                <a:solidFill>
                  <a:srgbClr val="007F97"/>
                </a:solidFill>
              </a:rPr>
              <a:t>LEVEL 03  •  SIDE QUEST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96F80-282C-4343-938E-6F33C2F7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1B35"/>
                </a:solidFill>
              </a:defRPr>
            </a:defPPr>
            <a:lvl1pPr>
              <a:defRPr sz="3150" b="1">
                <a:solidFill>
                  <a:srgbClr val="101B35"/>
                </a:solidFill>
              </a:defRPr>
            </a:lvl1pPr>
            <a:lvl2pPr>
              <a:defRPr sz="3150" b="1">
                <a:solidFill>
                  <a:srgbClr val="101B35"/>
                </a:solidFill>
              </a:defRPr>
            </a:lvl2pPr>
            <a:lvl3pPr>
              <a:defRPr sz="3150" b="1">
                <a:solidFill>
                  <a:srgbClr val="101B35"/>
                </a:solidFill>
              </a:defRPr>
            </a:lvl3pPr>
            <a:lvl4pPr>
              <a:defRPr sz="3150" b="1">
                <a:solidFill>
                  <a:srgbClr val="101B35"/>
                </a:solidFill>
              </a:defRPr>
            </a:lvl4pPr>
            <a:lvl5pPr>
              <a:defRPr sz="3150" b="1">
                <a:solidFill>
                  <a:srgbClr val="101B35"/>
                </a:solidFill>
              </a:defRPr>
            </a:lvl5pPr>
            <a:lvl6pPr>
              <a:defRPr sz="3150" b="1">
                <a:solidFill>
                  <a:srgbClr val="101B35"/>
                </a:solidFill>
              </a:defRPr>
            </a:lvl6pPr>
            <a:lvl7pPr>
              <a:defRPr sz="3150" b="1">
                <a:solidFill>
                  <a:srgbClr val="101B35"/>
                </a:solidFill>
              </a:defRPr>
            </a:lvl7pPr>
            <a:lvl8pPr>
              <a:defRPr sz="3150" b="1">
                <a:solidFill>
                  <a:srgbClr val="101B35"/>
                </a:solidFill>
              </a:defRPr>
            </a:lvl8pPr>
            <a:lvl9pPr>
              <a:defRPr sz="3150" b="1">
                <a:solidFill>
                  <a:srgbClr val="101B35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1B35"/>
                </a:solidFill>
              </a:defRPr>
            </a:pPr>
            <a:r>
              <a:rPr sz="3150" b="1">
                <a:solidFill>
                  <a:srgbClr val="101B35"/>
                </a:solidFill>
              </a:rPr>
              <a:t>The door was not forced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E8C82-B146-45DF-ABFE-E9E61C63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7"/>
                </a:solidFill>
              </a:defRPr>
            </a:defPPr>
            <a:lvl1pPr>
              <a:defRPr sz="1200" b="0">
                <a:solidFill>
                  <a:srgbClr val="526277"/>
                </a:solidFill>
              </a:defRPr>
            </a:lvl1pPr>
            <a:lvl2pPr>
              <a:defRPr sz="1200" b="0">
                <a:solidFill>
                  <a:srgbClr val="526277"/>
                </a:solidFill>
              </a:defRPr>
            </a:lvl2pPr>
            <a:lvl3pPr>
              <a:defRPr sz="1200" b="0">
                <a:solidFill>
                  <a:srgbClr val="526277"/>
                </a:solidFill>
              </a:defRPr>
            </a:lvl3pPr>
            <a:lvl4pPr>
              <a:defRPr sz="1200" b="0">
                <a:solidFill>
                  <a:srgbClr val="526277"/>
                </a:solidFill>
              </a:defRPr>
            </a:lvl4pPr>
            <a:lvl5pPr>
              <a:defRPr sz="1200" b="0">
                <a:solidFill>
                  <a:srgbClr val="526277"/>
                </a:solidFill>
              </a:defRPr>
            </a:lvl5pPr>
            <a:lvl6pPr>
              <a:defRPr sz="1200" b="0">
                <a:solidFill>
                  <a:srgbClr val="526277"/>
                </a:solidFill>
              </a:defRPr>
            </a:lvl6pPr>
            <a:lvl7pPr>
              <a:defRPr sz="1200" b="0">
                <a:solidFill>
                  <a:srgbClr val="526277"/>
                </a:solidFill>
              </a:defRPr>
            </a:lvl7pPr>
            <a:lvl8pPr>
              <a:defRPr sz="1200" b="0">
                <a:solidFill>
                  <a:srgbClr val="526277"/>
                </a:solidFill>
              </a:defRPr>
            </a:lvl8pPr>
            <a:lvl9pPr>
              <a:defRPr sz="1200" b="0">
                <a:solidFill>
                  <a:srgbClr val="52627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277"/>
                </a:solidFill>
              </a:defRPr>
            </a:pPr>
            <a:r>
              <a:rPr sz="1200" b="0">
                <a:solidFill>
                  <a:srgbClr val="526277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E7B3F-5A30-40D7-A259-0D6F33AC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43A"/>
                </a:solidFill>
              </a:defRPr>
            </a:defPPr>
            <a:lvl1pPr>
              <a:defRPr sz="2175" b="0">
                <a:solidFill>
                  <a:srgbClr val="17243A"/>
                </a:solidFill>
              </a:defRPr>
            </a:lvl1pPr>
            <a:lvl2pPr>
              <a:defRPr sz="2175" b="0">
                <a:solidFill>
                  <a:srgbClr val="17243A"/>
                </a:solidFill>
              </a:defRPr>
            </a:lvl2pPr>
            <a:lvl3pPr>
              <a:defRPr sz="2175" b="0">
                <a:solidFill>
                  <a:srgbClr val="17243A"/>
                </a:solidFill>
              </a:defRPr>
            </a:lvl3pPr>
            <a:lvl4pPr>
              <a:defRPr sz="2175" b="0">
                <a:solidFill>
                  <a:srgbClr val="17243A"/>
                </a:solidFill>
              </a:defRPr>
            </a:lvl4pPr>
            <a:lvl5pPr>
              <a:defRPr sz="2175" b="0">
                <a:solidFill>
                  <a:srgbClr val="17243A"/>
                </a:solidFill>
              </a:defRPr>
            </a:lvl5pPr>
            <a:lvl6pPr>
              <a:defRPr sz="2175" b="0">
                <a:solidFill>
                  <a:srgbClr val="17243A"/>
                </a:solidFill>
              </a:defRPr>
            </a:lvl6pPr>
            <a:lvl7pPr>
              <a:defRPr sz="2175" b="0">
                <a:solidFill>
                  <a:srgbClr val="17243A"/>
                </a:solidFill>
              </a:defRPr>
            </a:lvl7pPr>
            <a:lvl8pPr>
              <a:defRPr sz="2175" b="0">
                <a:solidFill>
                  <a:srgbClr val="17243A"/>
                </a:solidFill>
              </a:defRPr>
            </a:lvl8pPr>
            <a:lvl9pPr>
              <a:defRPr sz="2175" b="0">
                <a:solidFill>
                  <a:srgbClr val="17243A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43A"/>
                </a:solidFill>
              </a:defRPr>
            </a:pPr>
            <a:r>
              <a:rPr sz="2175" b="0">
                <a:solidFill>
                  <a:srgbClr val="17243A"/>
                </a:solidFill>
              </a:rPr>
              <a:t>Goal: KB ⊨ ¬F     Add F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810B0-74B3-4819-B92A-E62BE7FEF728}"/>
              </a:ext>
            </a:extLst>
          </p:cNvPr>
          <p:cNvGraphicFramePr/>
          <p:nvPr/>
        </p:nvGraphicFramePr>
        <p:xfrm>
          <a:off xmlns:a="http://schemas.openxmlformats.org/drawingml/2006/main" x="609600" y="2381250"/>
          <a:ext xmlns:a="http://schemas.openxmlformats.org/drawingml/2006/main" cx="1095375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3238500"/>
                <a:gridCol w="2190750"/>
                <a:gridCol w="4191000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01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Parents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01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Resolve 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01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01B3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R1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F + K4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F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R2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R1 + K5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2A88B-07CF-4183-BB73-039722DF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43A"/>
                </a:solidFill>
              </a:defRPr>
            </a:defPPr>
            <a:lvl1pPr>
              <a:defRPr sz="2100" b="0">
                <a:solidFill>
                  <a:srgbClr val="17243A"/>
                </a:solidFill>
              </a:defRPr>
            </a:lvl1pPr>
            <a:lvl2pPr>
              <a:defRPr sz="2100" b="0">
                <a:solidFill>
                  <a:srgbClr val="17243A"/>
                </a:solidFill>
              </a:defRPr>
            </a:lvl2pPr>
            <a:lvl3pPr>
              <a:defRPr sz="2100" b="0">
                <a:solidFill>
                  <a:srgbClr val="17243A"/>
                </a:solidFill>
              </a:defRPr>
            </a:lvl3pPr>
            <a:lvl4pPr>
              <a:defRPr sz="2100" b="0">
                <a:solidFill>
                  <a:srgbClr val="17243A"/>
                </a:solidFill>
              </a:defRPr>
            </a:lvl4pPr>
            <a:lvl5pPr>
              <a:defRPr sz="2100" b="0">
                <a:solidFill>
                  <a:srgbClr val="17243A"/>
                </a:solidFill>
              </a:defRPr>
            </a:lvl5pPr>
            <a:lvl6pPr>
              <a:defRPr sz="2100" b="0">
                <a:solidFill>
                  <a:srgbClr val="17243A"/>
                </a:solidFill>
              </a:defRPr>
            </a:lvl6pPr>
            <a:lvl7pPr>
              <a:defRPr sz="2100" b="0">
                <a:solidFill>
                  <a:srgbClr val="17243A"/>
                </a:solidFill>
              </a:defRPr>
            </a:lvl7pPr>
            <a:lvl8pPr>
              <a:defRPr sz="2100" b="0">
                <a:solidFill>
                  <a:srgbClr val="17243A"/>
                </a:solidFill>
              </a:defRPr>
            </a:lvl8pPr>
            <a:lvl9pPr>
              <a:defRPr sz="2100" b="0">
                <a:solidFill>
                  <a:srgbClr val="17243A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43A"/>
                </a:solidFill>
              </a:defRPr>
            </a:pPr>
            <a:r>
              <a:rPr sz="2100" b="0">
                <a:solidFill>
                  <a:srgbClr val="17243A"/>
                </a:solidFill>
              </a:rPr>
              <a:t>A forced door would mean the camera was off.</a:t>
            </a:r>
          </a:p>
          <a:p xmlns:a="http://schemas.openxmlformats.org/drawingml/2006/main">
            <a:pPr>
              <a:defRPr sz="2100" b="0">
                <a:solidFill>
                  <a:srgbClr val="17243A"/>
                </a:solidFill>
              </a:defRPr>
            </a:pPr>
            <a:r>
              <a:rPr sz="2100" b="0">
                <a:solidFill>
                  <a:srgbClr val="17243A"/>
                </a:solidFill>
              </a:rPr>
              <a:t>The camera was not off, so assuming F creates a contradiction.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9AAE5D-BBDD-4500-85E8-D7A3251F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7F97"/>
                </a:solidFill>
              </a:defRPr>
            </a:defPPr>
            <a:lvl1pPr>
              <a:defRPr sz="1650" b="1">
                <a:solidFill>
                  <a:srgbClr val="007F97"/>
                </a:solidFill>
              </a:defRPr>
            </a:lvl1pPr>
            <a:lvl2pPr>
              <a:defRPr sz="1650" b="1">
                <a:solidFill>
                  <a:srgbClr val="007F97"/>
                </a:solidFill>
              </a:defRPr>
            </a:lvl2pPr>
            <a:lvl3pPr>
              <a:defRPr sz="1650" b="1">
                <a:solidFill>
                  <a:srgbClr val="007F97"/>
                </a:solidFill>
              </a:defRPr>
            </a:lvl3pPr>
            <a:lvl4pPr>
              <a:defRPr sz="1650" b="1">
                <a:solidFill>
                  <a:srgbClr val="007F97"/>
                </a:solidFill>
              </a:defRPr>
            </a:lvl4pPr>
            <a:lvl5pPr>
              <a:defRPr sz="1650" b="1">
                <a:solidFill>
                  <a:srgbClr val="007F97"/>
                </a:solidFill>
              </a:defRPr>
            </a:lvl5pPr>
            <a:lvl6pPr>
              <a:defRPr sz="1650" b="1">
                <a:solidFill>
                  <a:srgbClr val="007F97"/>
                </a:solidFill>
              </a:defRPr>
            </a:lvl6pPr>
            <a:lvl7pPr>
              <a:defRPr sz="1650" b="1">
                <a:solidFill>
                  <a:srgbClr val="007F97"/>
                </a:solidFill>
              </a:defRPr>
            </a:lvl7pPr>
            <a:lvl8pPr>
              <a:defRPr sz="1650" b="1">
                <a:solidFill>
                  <a:srgbClr val="007F97"/>
                </a:solidFill>
              </a:defRPr>
            </a:lvl8pPr>
            <a:lvl9pPr>
              <a:defRPr sz="1650" b="1">
                <a:solidFill>
                  <a:srgbClr val="007F9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F97"/>
                </a:solidFill>
              </a:defRPr>
            </a:pPr>
            <a:r>
              <a:rPr sz="1650" b="1">
                <a:solidFill>
                  <a:srgbClr val="007F97"/>
                </a:solidFill>
              </a:rPr>
              <a:t>Therefore KB ⊨ ¬F. Negating the goal lets us test entailment.</a:t>
            </a:r>
          </a:p>
        </p:txBody>
      </p:sp>
    </p:spTree>
    <p:extLst>
      <p:ext uri="{BB962C8B-B14F-4D97-AF65-F5344CB8AC3E}">
        <p14:creationId xmlns:p14="http://schemas.microsoft.com/office/powerpoint/2010/main" val="21026949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08345-CEEE-4115-B568-49A2D6FA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F97"/>
                </a:solidFill>
              </a:defRPr>
            </a:defPPr>
            <a:lvl1pPr>
              <a:defRPr sz="1275" b="1">
                <a:solidFill>
                  <a:srgbClr val="007F97"/>
                </a:solidFill>
              </a:defRPr>
            </a:lvl1pPr>
            <a:lvl2pPr>
              <a:defRPr sz="1275" b="1">
                <a:solidFill>
                  <a:srgbClr val="007F97"/>
                </a:solidFill>
              </a:defRPr>
            </a:lvl2pPr>
            <a:lvl3pPr>
              <a:defRPr sz="1275" b="1">
                <a:solidFill>
                  <a:srgbClr val="007F97"/>
                </a:solidFill>
              </a:defRPr>
            </a:lvl3pPr>
            <a:lvl4pPr>
              <a:defRPr sz="1275" b="1">
                <a:solidFill>
                  <a:srgbClr val="007F97"/>
                </a:solidFill>
              </a:defRPr>
            </a:lvl4pPr>
            <a:lvl5pPr>
              <a:defRPr sz="1275" b="1">
                <a:solidFill>
                  <a:srgbClr val="007F97"/>
                </a:solidFill>
              </a:defRPr>
            </a:lvl5pPr>
            <a:lvl6pPr>
              <a:defRPr sz="1275" b="1">
                <a:solidFill>
                  <a:srgbClr val="007F97"/>
                </a:solidFill>
              </a:defRPr>
            </a:lvl6pPr>
            <a:lvl7pPr>
              <a:defRPr sz="1275" b="1">
                <a:solidFill>
                  <a:srgbClr val="007F97"/>
                </a:solidFill>
              </a:defRPr>
            </a:lvl7pPr>
            <a:lvl8pPr>
              <a:defRPr sz="1275" b="1">
                <a:solidFill>
                  <a:srgbClr val="007F97"/>
                </a:solidFill>
              </a:defRPr>
            </a:lvl8pPr>
            <a:lvl9pPr>
              <a:defRPr sz="1275" b="1">
                <a:solidFill>
                  <a:srgbClr val="007F97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F97"/>
                </a:solidFill>
              </a:defRPr>
            </a:pPr>
            <a:r>
              <a:rPr sz="1275" b="1">
                <a:solidFill>
                  <a:srgbClr val="007F97"/>
                </a:solidFill>
              </a:rPr>
              <a:t>LEVEL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36567-3026-418A-8D94-9FAAEF47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1B35"/>
                </a:solidFill>
              </a:defRPr>
            </a:defPPr>
            <a:lvl1pPr>
              <a:defRPr sz="3150" b="1">
                <a:solidFill>
                  <a:srgbClr val="101B35"/>
                </a:solidFill>
              </a:defRPr>
            </a:lvl1pPr>
            <a:lvl2pPr>
              <a:defRPr sz="3150" b="1">
                <a:solidFill>
                  <a:srgbClr val="101B35"/>
                </a:solidFill>
              </a:defRPr>
            </a:lvl2pPr>
            <a:lvl3pPr>
              <a:defRPr sz="3150" b="1">
                <a:solidFill>
                  <a:srgbClr val="101B35"/>
                </a:solidFill>
              </a:defRPr>
            </a:lvl3pPr>
            <a:lvl4pPr>
              <a:defRPr sz="3150" b="1">
                <a:solidFill>
                  <a:srgbClr val="101B35"/>
                </a:solidFill>
              </a:defRPr>
            </a:lvl4pPr>
            <a:lvl5pPr>
              <a:defRPr sz="3150" b="1">
                <a:solidFill>
                  <a:srgbClr val="101B35"/>
                </a:solidFill>
              </a:defRPr>
            </a:lvl5pPr>
            <a:lvl6pPr>
              <a:defRPr sz="3150" b="1">
                <a:solidFill>
                  <a:srgbClr val="101B35"/>
                </a:solidFill>
              </a:defRPr>
            </a:lvl6pPr>
            <a:lvl7pPr>
              <a:defRPr sz="3150" b="1">
                <a:solidFill>
                  <a:srgbClr val="101B35"/>
                </a:solidFill>
              </a:defRPr>
            </a:lvl7pPr>
            <a:lvl8pPr>
              <a:defRPr sz="3150" b="1">
                <a:solidFill>
                  <a:srgbClr val="101B35"/>
                </a:solidFill>
              </a:defRPr>
            </a:lvl8pPr>
            <a:lvl9pPr>
              <a:defRPr sz="3150" b="1">
                <a:solidFill>
                  <a:srgbClr val="101B35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1B35"/>
                </a:solidFill>
              </a:defRPr>
            </a:pPr>
            <a:r>
              <a:rPr sz="3150" b="1">
                <a:solidFill>
                  <a:srgbClr val="101B35"/>
                </a:solidFill>
              </a:rPr>
              <a:t>Final Accusation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5FA6D-FCC6-4679-9D7A-DBEA5241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7"/>
                </a:solidFill>
              </a:defRPr>
            </a:defPPr>
            <a:lvl1pPr>
              <a:defRPr sz="1200" b="0">
                <a:solidFill>
                  <a:srgbClr val="526277"/>
                </a:solidFill>
              </a:defRPr>
            </a:lvl1pPr>
            <a:lvl2pPr>
              <a:defRPr sz="1200" b="0">
                <a:solidFill>
                  <a:srgbClr val="526277"/>
                </a:solidFill>
              </a:defRPr>
            </a:lvl2pPr>
            <a:lvl3pPr>
              <a:defRPr sz="1200" b="0">
                <a:solidFill>
                  <a:srgbClr val="526277"/>
                </a:solidFill>
              </a:defRPr>
            </a:lvl3pPr>
            <a:lvl4pPr>
              <a:defRPr sz="1200" b="0">
                <a:solidFill>
                  <a:srgbClr val="526277"/>
                </a:solidFill>
              </a:defRPr>
            </a:lvl4pPr>
            <a:lvl5pPr>
              <a:defRPr sz="1200" b="0">
                <a:solidFill>
                  <a:srgbClr val="526277"/>
                </a:solidFill>
              </a:defRPr>
            </a:lvl5pPr>
            <a:lvl6pPr>
              <a:defRPr sz="1200" b="0">
                <a:solidFill>
                  <a:srgbClr val="526277"/>
                </a:solidFill>
              </a:defRPr>
            </a:lvl6pPr>
            <a:lvl7pPr>
              <a:defRPr sz="1200" b="0">
                <a:solidFill>
                  <a:srgbClr val="526277"/>
                </a:solidFill>
              </a:defRPr>
            </a:lvl7pPr>
            <a:lvl8pPr>
              <a:defRPr sz="1200" b="0">
                <a:solidFill>
                  <a:srgbClr val="526277"/>
                </a:solidFill>
              </a:defRPr>
            </a:lvl8pPr>
            <a:lvl9pPr>
              <a:defRPr sz="1200" b="0">
                <a:solidFill>
                  <a:srgbClr val="52627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277"/>
                </a:solidFill>
              </a:defRPr>
            </a:pPr>
            <a:r>
              <a:rPr sz="1200" b="0">
                <a:solidFill>
                  <a:srgbClr val="526277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6E704-D4F6-47C7-AED4-0813ED15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43A"/>
                </a:solidFill>
              </a:defRPr>
            </a:defPPr>
            <a:lvl1pPr>
              <a:defRPr sz="2025" b="0">
                <a:solidFill>
                  <a:srgbClr val="17243A"/>
                </a:solidFill>
              </a:defRPr>
            </a:lvl1pPr>
            <a:lvl2pPr>
              <a:defRPr sz="2025" b="0">
                <a:solidFill>
                  <a:srgbClr val="17243A"/>
                </a:solidFill>
              </a:defRPr>
            </a:lvl2pPr>
            <a:lvl3pPr>
              <a:defRPr sz="2025" b="0">
                <a:solidFill>
                  <a:srgbClr val="17243A"/>
                </a:solidFill>
              </a:defRPr>
            </a:lvl3pPr>
            <a:lvl4pPr>
              <a:defRPr sz="2025" b="0">
                <a:solidFill>
                  <a:srgbClr val="17243A"/>
                </a:solidFill>
              </a:defRPr>
            </a:lvl4pPr>
            <a:lvl5pPr>
              <a:defRPr sz="2025" b="0">
                <a:solidFill>
                  <a:srgbClr val="17243A"/>
                </a:solidFill>
              </a:defRPr>
            </a:lvl5pPr>
            <a:lvl6pPr>
              <a:defRPr sz="2025" b="0">
                <a:solidFill>
                  <a:srgbClr val="17243A"/>
                </a:solidFill>
              </a:defRPr>
            </a:lvl6pPr>
            <a:lvl7pPr>
              <a:defRPr sz="2025" b="0">
                <a:solidFill>
                  <a:srgbClr val="17243A"/>
                </a:solidFill>
              </a:defRPr>
            </a:lvl7pPr>
            <a:lvl8pPr>
              <a:defRPr sz="2025" b="0">
                <a:solidFill>
                  <a:srgbClr val="17243A"/>
                </a:solidFill>
              </a:defRPr>
            </a:lvl8pPr>
            <a:lvl9pPr>
              <a:defRPr sz="2025" b="0">
                <a:solidFill>
                  <a:srgbClr val="17243A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43A"/>
                </a:solidFill>
              </a:defRPr>
            </a:pPr>
            <a:r>
              <a:rPr sz="2025" b="0">
                <a:solidFill>
                  <a:srgbClr val="17243A"/>
                </a:solidFill>
              </a:rPr>
              <a:t>Present the assigned case in two minutes. Show the goal, its negation, every resolution step, and the verdict.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AE2CD-1547-4494-8367-F6E319733763}"/>
              </a:ext>
            </a:extLst>
          </p:cNvPr>
          <p:cNvGraphicFramePr/>
          <p:nvPr/>
        </p:nvGraphicFramePr>
        <p:xfrm>
          <a:off xmlns:a="http://schemas.openxmlformats.org/drawingml/2006/main" x="609600" y="2705100"/>
          <a:ext xmlns:a="http://schemas.openxmlformats.org/drawingml/2006/main" cx="1095375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4762500"/>
              </a:tblGrid>
              <a:tr h="4857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Conclusion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01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Evidence status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01B35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Omar took the paper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Proven: KB ⊨ 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Sara did not take it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Proven: KB ⊨ ¬S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Lina’s involvement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Undetermined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The door was not forced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43A"/>
                          </a:solidFill>
                        </a:rPr>
                        <a:t>Proven: KB ⊨ ¬F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5E1"/>
                      </a:solidFill>
                      <a:prstDash val="solid"/>
                    </a:lnR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73550-4CBE-4753-8BDD-CA6A8123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243A"/>
                </a:solidFill>
              </a:defRPr>
            </a:defPPr>
            <a:lvl1pPr>
              <a:defRPr sz="1725" b="0">
                <a:solidFill>
                  <a:srgbClr val="17243A"/>
                </a:solidFill>
              </a:defRPr>
            </a:lvl1pPr>
            <a:lvl2pPr>
              <a:defRPr sz="1725" b="0">
                <a:solidFill>
                  <a:srgbClr val="17243A"/>
                </a:solidFill>
              </a:defRPr>
            </a:lvl2pPr>
            <a:lvl3pPr>
              <a:defRPr sz="1725" b="0">
                <a:solidFill>
                  <a:srgbClr val="17243A"/>
                </a:solidFill>
              </a:defRPr>
            </a:lvl3pPr>
            <a:lvl4pPr>
              <a:defRPr sz="1725" b="0">
                <a:solidFill>
                  <a:srgbClr val="17243A"/>
                </a:solidFill>
              </a:defRPr>
            </a:lvl4pPr>
            <a:lvl5pPr>
              <a:defRPr sz="1725" b="0">
                <a:solidFill>
                  <a:srgbClr val="17243A"/>
                </a:solidFill>
              </a:defRPr>
            </a:lvl5pPr>
            <a:lvl6pPr>
              <a:defRPr sz="1725" b="0">
                <a:solidFill>
                  <a:srgbClr val="17243A"/>
                </a:solidFill>
              </a:defRPr>
            </a:lvl6pPr>
            <a:lvl7pPr>
              <a:defRPr sz="1725" b="0">
                <a:solidFill>
                  <a:srgbClr val="17243A"/>
                </a:solidFill>
              </a:defRPr>
            </a:lvl7pPr>
            <a:lvl8pPr>
              <a:defRPr sz="1725" b="0">
                <a:solidFill>
                  <a:srgbClr val="17243A"/>
                </a:solidFill>
              </a:defRPr>
            </a:lvl8pPr>
            <a:lvl9pPr>
              <a:defRPr sz="1725" b="0">
                <a:solidFill>
                  <a:srgbClr val="17243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43A"/>
                </a:solidFill>
              </a:defRPr>
            </a:pPr>
            <a:r>
              <a:rPr sz="1725" b="0">
                <a:solidFill>
                  <a:srgbClr val="17243A"/>
                </a:solidFill>
              </a:rPr>
              <a:t>Other teams check each step and may object to an invalid resolution.</a:t>
            </a:r>
          </a:p>
          <a:p xmlns:a="http://schemas.openxmlformats.org/drawingml/2006/main">
            <a:pPr>
              <a:defRPr sz="1725" b="0">
                <a:solidFill>
                  <a:srgbClr val="17243A"/>
                </a:solidFill>
              </a:defRPr>
            </a:pPr>
            <a:r>
              <a:rPr sz="1725" b="0">
                <a:solidFill>
                  <a:srgbClr val="17243A"/>
                </a:solidFill>
              </a:rPr>
              <a:t>The Checker confirms the complementary pair and remaining literals.</a:t>
            </a:r>
          </a:p>
        </p:txBody>
      </p:sp>
    </p:spTree>
    <p:extLst>
      <p:ext uri="{BB962C8B-B14F-4D97-AF65-F5344CB8AC3E}">
        <p14:creationId xmlns:p14="http://schemas.microsoft.com/office/powerpoint/2010/main" val="2658260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8DABA-0957-4942-8DC1-D2263F62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07F97"/>
                </a:solidFill>
              </a:defRPr>
            </a:defPPr>
            <a:lvl1pPr>
              <a:defRPr sz="1275" b="1">
                <a:solidFill>
                  <a:srgbClr val="007F97"/>
                </a:solidFill>
              </a:defRPr>
            </a:lvl1pPr>
            <a:lvl2pPr>
              <a:defRPr sz="1275" b="1">
                <a:solidFill>
                  <a:srgbClr val="007F97"/>
                </a:solidFill>
              </a:defRPr>
            </a:lvl2pPr>
            <a:lvl3pPr>
              <a:defRPr sz="1275" b="1">
                <a:solidFill>
                  <a:srgbClr val="007F97"/>
                </a:solidFill>
              </a:defRPr>
            </a:lvl3pPr>
            <a:lvl4pPr>
              <a:defRPr sz="1275" b="1">
                <a:solidFill>
                  <a:srgbClr val="007F97"/>
                </a:solidFill>
              </a:defRPr>
            </a:lvl4pPr>
            <a:lvl5pPr>
              <a:defRPr sz="1275" b="1">
                <a:solidFill>
                  <a:srgbClr val="007F97"/>
                </a:solidFill>
              </a:defRPr>
            </a:lvl5pPr>
            <a:lvl6pPr>
              <a:defRPr sz="1275" b="1">
                <a:solidFill>
                  <a:srgbClr val="007F97"/>
                </a:solidFill>
              </a:defRPr>
            </a:lvl6pPr>
            <a:lvl7pPr>
              <a:defRPr sz="1275" b="1">
                <a:solidFill>
                  <a:srgbClr val="007F97"/>
                </a:solidFill>
              </a:defRPr>
            </a:lvl7pPr>
            <a:lvl8pPr>
              <a:defRPr sz="1275" b="1">
                <a:solidFill>
                  <a:srgbClr val="007F97"/>
                </a:solidFill>
              </a:defRPr>
            </a:lvl8pPr>
            <a:lvl9pPr>
              <a:defRPr sz="1275" b="1">
                <a:solidFill>
                  <a:srgbClr val="007F97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F97"/>
                </a:solidFill>
              </a:defRPr>
            </a:pPr>
            <a:r>
              <a:rPr sz="1275" b="1">
                <a:solidFill>
                  <a:srgbClr val="007F97"/>
                </a:solidFill>
              </a:rPr>
              <a:t>REFLECTION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73EE4-4B51-458D-AF7B-63D9671E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1B35"/>
                </a:solidFill>
              </a:defRPr>
            </a:defPPr>
            <a:lvl1pPr>
              <a:defRPr sz="3150" b="1">
                <a:solidFill>
                  <a:srgbClr val="101B35"/>
                </a:solidFill>
              </a:defRPr>
            </a:lvl1pPr>
            <a:lvl2pPr>
              <a:defRPr sz="3150" b="1">
                <a:solidFill>
                  <a:srgbClr val="101B35"/>
                </a:solidFill>
              </a:defRPr>
            </a:lvl2pPr>
            <a:lvl3pPr>
              <a:defRPr sz="3150" b="1">
                <a:solidFill>
                  <a:srgbClr val="101B35"/>
                </a:solidFill>
              </a:defRPr>
            </a:lvl3pPr>
            <a:lvl4pPr>
              <a:defRPr sz="3150" b="1">
                <a:solidFill>
                  <a:srgbClr val="101B35"/>
                </a:solidFill>
              </a:defRPr>
            </a:lvl4pPr>
            <a:lvl5pPr>
              <a:defRPr sz="3150" b="1">
                <a:solidFill>
                  <a:srgbClr val="101B35"/>
                </a:solidFill>
              </a:defRPr>
            </a:lvl5pPr>
            <a:lvl6pPr>
              <a:defRPr sz="3150" b="1">
                <a:solidFill>
                  <a:srgbClr val="101B35"/>
                </a:solidFill>
              </a:defRPr>
            </a:lvl6pPr>
            <a:lvl7pPr>
              <a:defRPr sz="3150" b="1">
                <a:solidFill>
                  <a:srgbClr val="101B35"/>
                </a:solidFill>
              </a:defRPr>
            </a:lvl7pPr>
            <a:lvl8pPr>
              <a:defRPr sz="3150" b="1">
                <a:solidFill>
                  <a:srgbClr val="101B35"/>
                </a:solidFill>
              </a:defRPr>
            </a:lvl8pPr>
            <a:lvl9pPr>
              <a:defRPr sz="3150" b="1">
                <a:solidFill>
                  <a:srgbClr val="101B35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1B35"/>
                </a:solidFill>
              </a:defRPr>
            </a:pPr>
            <a:r>
              <a:rPr sz="3150" b="1">
                <a:solidFill>
                  <a:srgbClr val="101B35"/>
                </a:solidFill>
              </a:rPr>
              <a:t>What we learned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4B8CB-BC9D-4923-81BF-2ED868A5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7"/>
                </a:solidFill>
              </a:defRPr>
            </a:defPPr>
            <a:lvl1pPr>
              <a:defRPr sz="1200" b="0">
                <a:solidFill>
                  <a:srgbClr val="526277"/>
                </a:solidFill>
              </a:defRPr>
            </a:lvl1pPr>
            <a:lvl2pPr>
              <a:defRPr sz="1200" b="0">
                <a:solidFill>
                  <a:srgbClr val="526277"/>
                </a:solidFill>
              </a:defRPr>
            </a:lvl2pPr>
            <a:lvl3pPr>
              <a:defRPr sz="1200" b="0">
                <a:solidFill>
                  <a:srgbClr val="526277"/>
                </a:solidFill>
              </a:defRPr>
            </a:lvl3pPr>
            <a:lvl4pPr>
              <a:defRPr sz="1200" b="0">
                <a:solidFill>
                  <a:srgbClr val="526277"/>
                </a:solidFill>
              </a:defRPr>
            </a:lvl4pPr>
            <a:lvl5pPr>
              <a:defRPr sz="1200" b="0">
                <a:solidFill>
                  <a:srgbClr val="526277"/>
                </a:solidFill>
              </a:defRPr>
            </a:lvl5pPr>
            <a:lvl6pPr>
              <a:defRPr sz="1200" b="0">
                <a:solidFill>
                  <a:srgbClr val="526277"/>
                </a:solidFill>
              </a:defRPr>
            </a:lvl6pPr>
            <a:lvl7pPr>
              <a:defRPr sz="1200" b="0">
                <a:solidFill>
                  <a:srgbClr val="526277"/>
                </a:solidFill>
              </a:defRPr>
            </a:lvl7pPr>
            <a:lvl8pPr>
              <a:defRPr sz="1200" b="0">
                <a:solidFill>
                  <a:srgbClr val="526277"/>
                </a:solidFill>
              </a:defRPr>
            </a:lvl8pPr>
            <a:lvl9pPr>
              <a:defRPr sz="1200" b="0">
                <a:solidFill>
                  <a:srgbClr val="52627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277"/>
                </a:solidFill>
              </a:defRPr>
            </a:pPr>
            <a:r>
              <a:rPr sz="1200" b="0">
                <a:solidFill>
                  <a:srgbClr val="526277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2A4DB-CD43-4274-8C51-807D3FB1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53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43A"/>
                </a:solidFill>
              </a:defRPr>
            </a:defPPr>
            <a:lvl1pPr>
              <a:defRPr sz="2100" b="0">
                <a:solidFill>
                  <a:srgbClr val="17243A"/>
                </a:solidFill>
              </a:defRPr>
            </a:lvl1pPr>
            <a:lvl2pPr>
              <a:defRPr sz="2100" b="0">
                <a:solidFill>
                  <a:srgbClr val="17243A"/>
                </a:solidFill>
              </a:defRPr>
            </a:lvl2pPr>
            <a:lvl3pPr>
              <a:defRPr sz="2100" b="0">
                <a:solidFill>
                  <a:srgbClr val="17243A"/>
                </a:solidFill>
              </a:defRPr>
            </a:lvl3pPr>
            <a:lvl4pPr>
              <a:defRPr sz="2100" b="0">
                <a:solidFill>
                  <a:srgbClr val="17243A"/>
                </a:solidFill>
              </a:defRPr>
            </a:lvl4pPr>
            <a:lvl5pPr>
              <a:defRPr sz="2100" b="0">
                <a:solidFill>
                  <a:srgbClr val="17243A"/>
                </a:solidFill>
              </a:defRPr>
            </a:lvl5pPr>
            <a:lvl6pPr>
              <a:defRPr sz="2100" b="0">
                <a:solidFill>
                  <a:srgbClr val="17243A"/>
                </a:solidFill>
              </a:defRPr>
            </a:lvl6pPr>
            <a:lvl7pPr>
              <a:defRPr sz="2100" b="0">
                <a:solidFill>
                  <a:srgbClr val="17243A"/>
                </a:solidFill>
              </a:defRPr>
            </a:lvl7pPr>
            <a:lvl8pPr>
              <a:defRPr sz="2100" b="0">
                <a:solidFill>
                  <a:srgbClr val="17243A"/>
                </a:solidFill>
              </a:defRPr>
            </a:lvl8pPr>
            <a:lvl9pPr>
              <a:defRPr sz="2100" b="0">
                <a:solidFill>
                  <a:srgbClr val="17243A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43A"/>
                </a:solidFill>
              </a:defRPr>
            </a:pPr>
            <a:r>
              <a:rPr sz="2100" b="0">
                <a:solidFill>
                  <a:srgbClr val="17243A"/>
                </a:solidFill>
              </a:rPr>
              <a:t>Convert clues into equivalent CNF clauses.</a:t>
            </a:r>
          </a:p>
          <a:p xmlns:a="http://schemas.openxmlformats.org/drawingml/2006/main">
            <a:pPr>
              <a:defRPr sz="2100" b="0">
                <a:solidFill>
                  <a:srgbClr val="17243A"/>
                </a:solidFill>
              </a:defRPr>
            </a:pPr>
            <a:r>
              <a:rPr sz="2100" b="0">
                <a:solidFill>
                  <a:srgbClr val="17243A"/>
                </a:solidFill>
              </a:rPr>
              <a:t>Resolve complementary literals and factor duplicates.</a:t>
            </a:r>
          </a:p>
          <a:p xmlns:a="http://schemas.openxmlformats.org/drawingml/2006/main">
            <a:pPr>
              <a:defRPr sz="2100" b="0">
                <a:solidFill>
                  <a:srgbClr val="17243A"/>
                </a:solidFill>
              </a:defRPr>
            </a:pPr>
            <a:r>
              <a:rPr sz="2100" b="0">
                <a:solidFill>
                  <a:srgbClr val="17243A"/>
                </a:solidFill>
              </a:rPr>
              <a:t>Distinguish a tautology from a contradiction.</a:t>
            </a:r>
          </a:p>
          <a:p xmlns:a="http://schemas.openxmlformats.org/drawingml/2006/main">
            <a:pPr>
              <a:defRPr sz="2100" b="0">
                <a:solidFill>
                  <a:srgbClr val="17243A"/>
                </a:solidFill>
              </a:defRPr>
            </a:pPr>
            <a:r>
              <a:rPr sz="2100" b="0">
                <a:solidFill>
                  <a:srgbClr val="17243A"/>
                </a:solidFill>
              </a:rPr>
              <a:t>Recognize when the evidence cannot settle a claim.</a:t>
            </a:r>
          </a:p>
          <a:p xmlns:a="http://schemas.openxmlformats.org/drawingml/2006/main">
            <a:pPr>
              <a:defRPr sz="2100" b="0">
                <a:solidFill>
                  <a:srgbClr val="17243A"/>
                </a:solidFill>
              </a:defRPr>
            </a:pPr>
            <a:r>
              <a:rPr sz="2100" b="0">
                <a:solidFill>
                  <a:srgbClr val="17243A"/>
                </a:solidFill>
              </a:rPr>
              <a:t>Explain and review proofs through rotating team roles.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88C19-2264-42A0-B90E-56DE6814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97"/>
                </a:solidFill>
              </a:defRPr>
            </a:defPPr>
            <a:lvl1pPr>
              <a:defRPr sz="2025" b="1">
                <a:solidFill>
                  <a:srgbClr val="007F97"/>
                </a:solidFill>
              </a:defRPr>
            </a:lvl1pPr>
            <a:lvl2pPr>
              <a:defRPr sz="2025" b="1">
                <a:solidFill>
                  <a:srgbClr val="007F97"/>
                </a:solidFill>
              </a:defRPr>
            </a:lvl2pPr>
            <a:lvl3pPr>
              <a:defRPr sz="2025" b="1">
                <a:solidFill>
                  <a:srgbClr val="007F97"/>
                </a:solidFill>
              </a:defRPr>
            </a:lvl3pPr>
            <a:lvl4pPr>
              <a:defRPr sz="2025" b="1">
                <a:solidFill>
                  <a:srgbClr val="007F97"/>
                </a:solidFill>
              </a:defRPr>
            </a:lvl4pPr>
            <a:lvl5pPr>
              <a:defRPr sz="2025" b="1">
                <a:solidFill>
                  <a:srgbClr val="007F97"/>
                </a:solidFill>
              </a:defRPr>
            </a:lvl5pPr>
            <a:lvl6pPr>
              <a:defRPr sz="2025" b="1">
                <a:solidFill>
                  <a:srgbClr val="007F97"/>
                </a:solidFill>
              </a:defRPr>
            </a:lvl6pPr>
            <a:lvl7pPr>
              <a:defRPr sz="2025" b="1">
                <a:solidFill>
                  <a:srgbClr val="007F97"/>
                </a:solidFill>
              </a:defRPr>
            </a:lvl7pPr>
            <a:lvl8pPr>
              <a:defRPr sz="2025" b="1">
                <a:solidFill>
                  <a:srgbClr val="007F97"/>
                </a:solidFill>
              </a:defRPr>
            </a:lvl8pPr>
            <a:lvl9pPr>
              <a:defRPr sz="2025" b="1">
                <a:solidFill>
                  <a:srgbClr val="007F97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97"/>
                </a:solidFill>
              </a:defRPr>
            </a:pPr>
            <a:r>
              <a:rPr sz="2025" b="1">
                <a:solidFill>
                  <a:srgbClr val="007F97"/>
                </a:solidFill>
              </a:rPr>
              <a:t>Why proof by contradiction?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37855-E94A-4560-A8C2-254C575A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243A"/>
                </a:solidFill>
              </a:defRPr>
            </a:defPPr>
            <a:lvl1pPr>
              <a:defRPr sz="1800" b="0">
                <a:solidFill>
                  <a:srgbClr val="17243A"/>
                </a:solidFill>
              </a:defRPr>
            </a:lvl1pPr>
            <a:lvl2pPr>
              <a:defRPr sz="1800" b="0">
                <a:solidFill>
                  <a:srgbClr val="17243A"/>
                </a:solidFill>
              </a:defRPr>
            </a:lvl2pPr>
            <a:lvl3pPr>
              <a:defRPr sz="1800" b="0">
                <a:solidFill>
                  <a:srgbClr val="17243A"/>
                </a:solidFill>
              </a:defRPr>
            </a:lvl3pPr>
            <a:lvl4pPr>
              <a:defRPr sz="1800" b="0">
                <a:solidFill>
                  <a:srgbClr val="17243A"/>
                </a:solidFill>
              </a:defRPr>
            </a:lvl4pPr>
            <a:lvl5pPr>
              <a:defRPr sz="1800" b="0">
                <a:solidFill>
                  <a:srgbClr val="17243A"/>
                </a:solidFill>
              </a:defRPr>
            </a:lvl5pPr>
            <a:lvl6pPr>
              <a:defRPr sz="1800" b="0">
                <a:solidFill>
                  <a:srgbClr val="17243A"/>
                </a:solidFill>
              </a:defRPr>
            </a:lvl6pPr>
            <a:lvl7pPr>
              <a:defRPr sz="1800" b="0">
                <a:solidFill>
                  <a:srgbClr val="17243A"/>
                </a:solidFill>
              </a:defRPr>
            </a:lvl7pPr>
            <a:lvl8pPr>
              <a:defRPr sz="1800" b="0">
                <a:solidFill>
                  <a:srgbClr val="17243A"/>
                </a:solidFill>
              </a:defRPr>
            </a:lvl8pPr>
            <a:lvl9pPr>
              <a:defRPr sz="1800" b="0">
                <a:solidFill>
                  <a:srgbClr val="1724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43A"/>
                </a:solidFill>
              </a:defRPr>
            </a:pPr>
            <a:r>
              <a:rPr sz="1800" b="0">
                <a:solidFill>
                  <a:srgbClr val="17243A"/>
                </a:solidFill>
              </a:rPr>
              <a:t>We add the negation of the goal and show that it contradicts the KB.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F4AB2-2B44-44A5-A2BF-0CBF79DA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97"/>
                </a:solidFill>
              </a:defRPr>
            </a:defPPr>
            <a:lvl1pPr>
              <a:defRPr sz="2025" b="1">
                <a:solidFill>
                  <a:srgbClr val="007F97"/>
                </a:solidFill>
              </a:defRPr>
            </a:lvl1pPr>
            <a:lvl2pPr>
              <a:defRPr sz="2025" b="1">
                <a:solidFill>
                  <a:srgbClr val="007F97"/>
                </a:solidFill>
              </a:defRPr>
            </a:lvl2pPr>
            <a:lvl3pPr>
              <a:defRPr sz="2025" b="1">
                <a:solidFill>
                  <a:srgbClr val="007F97"/>
                </a:solidFill>
              </a:defRPr>
            </a:lvl3pPr>
            <a:lvl4pPr>
              <a:defRPr sz="2025" b="1">
                <a:solidFill>
                  <a:srgbClr val="007F97"/>
                </a:solidFill>
              </a:defRPr>
            </a:lvl4pPr>
            <a:lvl5pPr>
              <a:defRPr sz="2025" b="1">
                <a:solidFill>
                  <a:srgbClr val="007F97"/>
                </a:solidFill>
              </a:defRPr>
            </a:lvl5pPr>
            <a:lvl6pPr>
              <a:defRPr sz="2025" b="1">
                <a:solidFill>
                  <a:srgbClr val="007F97"/>
                </a:solidFill>
              </a:defRPr>
            </a:lvl6pPr>
            <a:lvl7pPr>
              <a:defRPr sz="2025" b="1">
                <a:solidFill>
                  <a:srgbClr val="007F97"/>
                </a:solidFill>
              </a:defRPr>
            </a:lvl7pPr>
            <a:lvl8pPr>
              <a:defRPr sz="2025" b="1">
                <a:solidFill>
                  <a:srgbClr val="007F97"/>
                </a:solidFill>
              </a:defRPr>
            </a:lvl8pPr>
            <a:lvl9pPr>
              <a:defRPr sz="2025" b="1">
                <a:solidFill>
                  <a:srgbClr val="007F97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97"/>
                </a:solidFill>
              </a:defRPr>
            </a:pPr>
            <a:r>
              <a:rPr sz="2025" b="1">
                <a:solidFill>
                  <a:srgbClr val="007F97"/>
                </a:solidFill>
              </a:rPr>
              <a:t>What if no empty clause can ever be derived?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C2F56-5AAC-4574-93FF-0CE8D4B6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243A"/>
                </a:solidFill>
              </a:defRPr>
            </a:defPPr>
            <a:lvl1pPr>
              <a:defRPr sz="1800" b="0">
                <a:solidFill>
                  <a:srgbClr val="17243A"/>
                </a:solidFill>
              </a:defRPr>
            </a:lvl1pPr>
            <a:lvl2pPr>
              <a:defRPr sz="1800" b="0">
                <a:solidFill>
                  <a:srgbClr val="17243A"/>
                </a:solidFill>
              </a:defRPr>
            </a:lvl2pPr>
            <a:lvl3pPr>
              <a:defRPr sz="1800" b="0">
                <a:solidFill>
                  <a:srgbClr val="17243A"/>
                </a:solidFill>
              </a:defRPr>
            </a:lvl3pPr>
            <a:lvl4pPr>
              <a:defRPr sz="1800" b="0">
                <a:solidFill>
                  <a:srgbClr val="17243A"/>
                </a:solidFill>
              </a:defRPr>
            </a:lvl4pPr>
            <a:lvl5pPr>
              <a:defRPr sz="1800" b="0">
                <a:solidFill>
                  <a:srgbClr val="17243A"/>
                </a:solidFill>
              </a:defRPr>
            </a:lvl5pPr>
            <a:lvl6pPr>
              <a:defRPr sz="1800" b="0">
                <a:solidFill>
                  <a:srgbClr val="17243A"/>
                </a:solidFill>
              </a:defRPr>
            </a:lvl6pPr>
            <a:lvl7pPr>
              <a:defRPr sz="1800" b="0">
                <a:solidFill>
                  <a:srgbClr val="17243A"/>
                </a:solidFill>
              </a:defRPr>
            </a:lvl7pPr>
            <a:lvl8pPr>
              <a:defRPr sz="1800" b="0">
                <a:solidFill>
                  <a:srgbClr val="17243A"/>
                </a:solidFill>
              </a:defRPr>
            </a:lvl8pPr>
            <a:lvl9pPr>
              <a:defRPr sz="1800" b="0">
                <a:solidFill>
                  <a:srgbClr val="1724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43A"/>
                </a:solidFill>
              </a:defRPr>
            </a:pPr>
            <a:r>
              <a:rPr sz="1800" b="0">
                <a:solidFill>
                  <a:srgbClr val="17243A"/>
                </a:solidFill>
              </a:rPr>
              <a:t>The claim is not entailed. It is not necessarily false.</a:t>
            </a:r>
          </a:p>
        </p:txBody>
      </p:sp>
    </p:spTree>
    <p:extLst>
      <p:ext uri="{BB962C8B-B14F-4D97-AF65-F5344CB8AC3E}">
        <p14:creationId xmlns:p14="http://schemas.microsoft.com/office/powerpoint/2010/main" val="1418797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2026-10-21T07:30:29.5630000Z</dcterms:created>
  <dcterms:modified xsi:type="dcterms:W3CDTF">2026-10-21T07:30:29.5630000Z</dcterms:modified>
</coreProperties>
</file>